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20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731752" y="0"/>
            <a:ext cx="457200" cy="6858000"/>
          </a:xfrm>
          <a:prstGeom prst="rect">
            <a:avLst/>
          </a:prstGeom>
          <a:solidFill>
            <a:srgbClr val="120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0" y="365760"/>
            <a:ext cx="1645920" cy="914400"/>
          </a:xfrm>
          <a:prstGeom prst="rect">
            <a:avLst/>
          </a:prstGeom>
          <a:solidFill>
            <a:srgbClr val="1A0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371600"/>
            <a:ext cx="9144000" cy="1097280"/>
          </a:xfrm>
          <a:prstGeom prst="rect">
            <a:avLst/>
          </a:prstGeom>
          <a:noFill/>
        </p:spPr>
        <p:txBody>
          <a:bodyPr wrap="square">
            <a:spAutoFit/>
          </a:bodyPr>
          <a:lstStyle/>
          <a:p>
            <a:pPr algn="ctr"/>
            <a:r>
              <a:rPr sz="5400" b="1">
                <a:solidFill>
                  <a:srgbClr val="E6EDF3"/>
                </a:solidFill>
                <a:latin typeface="Inter"/>
              </a:rPr>
              <a:t>AgenticFrmk</a:t>
            </a:r>
          </a:p>
        </p:txBody>
      </p:sp>
      <p:sp>
        <p:nvSpPr>
          <p:cNvPr id="6" name="TextBox 5"/>
          <p:cNvSpPr txBox="1"/>
          <p:nvPr/>
        </p:nvSpPr>
        <p:spPr>
          <a:xfrm>
            <a:off x="1371600" y="2606040"/>
            <a:ext cx="9144000" cy="1005840"/>
          </a:xfrm>
          <a:prstGeom prst="rect">
            <a:avLst/>
          </a:prstGeom>
          <a:noFill/>
        </p:spPr>
        <p:txBody>
          <a:bodyPr wrap="square">
            <a:spAutoFit/>
          </a:bodyPr>
          <a:lstStyle/>
          <a:p>
            <a:pPr algn="ctr"/>
            <a:r>
              <a:rPr sz="2200" b="0">
                <a:solidFill>
                  <a:srgbClr val="A78BFA"/>
                </a:solidFill>
                <a:latin typeface="Inter"/>
              </a:rPr>
              <a:t>The production-grade agentic infrastructure layer
that enterprises actually deploy.</a:t>
            </a:r>
          </a:p>
        </p:txBody>
      </p:sp>
      <p:cxnSp>
        <p:nvCxnSpPr>
          <p:cNvPr id="7" name="Connector 6"/>
          <p:cNvCxnSpPr/>
          <p:nvPr/>
        </p:nvCxnSpPr>
        <p:spPr>
          <a:xfrm>
            <a:off x="365760" y="3794760"/>
            <a:ext cx="11457432" cy="0"/>
          </a:xfrm>
          <a:prstGeom prst="line">
            <a:avLst/>
          </a:prstGeom>
          <a:ln w="6350">
            <a:solidFill>
              <a:srgbClr val="1C2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188720" y="3977639"/>
            <a:ext cx="1920240" cy="320040"/>
          </a:xfrm>
          <a:prstGeom prst="rect">
            <a:avLst/>
          </a:prstGeom>
          <a:solidFill>
            <a:srgbClr val="062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995927"/>
            <a:ext cx="1828800" cy="283464"/>
          </a:xfrm>
          <a:prstGeom prst="rect">
            <a:avLst/>
          </a:prstGeom>
          <a:noFill/>
        </p:spPr>
        <p:txBody>
          <a:bodyPr wrap="square">
            <a:spAutoFit/>
          </a:bodyPr>
          <a:lstStyle/>
          <a:p>
            <a:pPr algn="ctr"/>
            <a:r>
              <a:rPr sz="1000" b="1">
                <a:solidFill>
                  <a:srgbClr val="22C55E"/>
                </a:solidFill>
                <a:latin typeface="Inter"/>
              </a:rPr>
              <a:t>AuthService</a:t>
            </a:r>
          </a:p>
        </p:txBody>
      </p:sp>
      <p:sp>
        <p:nvSpPr>
          <p:cNvPr id="10" name="Rectangle 9"/>
          <p:cNvSpPr/>
          <p:nvPr/>
        </p:nvSpPr>
        <p:spPr>
          <a:xfrm>
            <a:off x="3154680" y="3977639"/>
            <a:ext cx="1920240" cy="320040"/>
          </a:xfrm>
          <a:prstGeom prst="rect">
            <a:avLst/>
          </a:prstGeom>
          <a:solidFill>
            <a:srgbClr val="1E1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3995927"/>
            <a:ext cx="1828800" cy="283464"/>
          </a:xfrm>
          <a:prstGeom prst="rect">
            <a:avLst/>
          </a:prstGeom>
          <a:noFill/>
        </p:spPr>
        <p:txBody>
          <a:bodyPr wrap="square">
            <a:spAutoFit/>
          </a:bodyPr>
          <a:lstStyle/>
          <a:p>
            <a:pPr algn="ctr"/>
            <a:r>
              <a:rPr sz="1000" b="1">
                <a:solidFill>
                  <a:srgbClr val="A78BFA"/>
                </a:solidFill>
                <a:latin typeface="Inter"/>
              </a:rPr>
              <a:t>AgentGateway</a:t>
            </a:r>
          </a:p>
        </p:txBody>
      </p:sp>
      <p:sp>
        <p:nvSpPr>
          <p:cNvPr id="12" name="Rectangle 11"/>
          <p:cNvSpPr/>
          <p:nvPr/>
        </p:nvSpPr>
        <p:spPr>
          <a:xfrm>
            <a:off x="5120640" y="3977639"/>
            <a:ext cx="1920240" cy="320040"/>
          </a:xfrm>
          <a:prstGeom prst="rect">
            <a:avLst/>
          </a:prstGeom>
          <a:solidFill>
            <a:srgbClr val="0721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6359" y="3995927"/>
            <a:ext cx="1828800" cy="283464"/>
          </a:xfrm>
          <a:prstGeom prst="rect">
            <a:avLst/>
          </a:prstGeom>
          <a:noFill/>
        </p:spPr>
        <p:txBody>
          <a:bodyPr wrap="square">
            <a:spAutoFit/>
          </a:bodyPr>
          <a:lstStyle/>
          <a:p>
            <a:pPr algn="ctr"/>
            <a:r>
              <a:rPr sz="1000" b="1">
                <a:solidFill>
                  <a:srgbClr val="38BDF8"/>
                </a:solidFill>
                <a:latin typeface="Inter"/>
              </a:rPr>
              <a:t>AgentCore</a:t>
            </a:r>
          </a:p>
        </p:txBody>
      </p:sp>
      <p:sp>
        <p:nvSpPr>
          <p:cNvPr id="14" name="Rectangle 13"/>
          <p:cNvSpPr/>
          <p:nvPr/>
        </p:nvSpPr>
        <p:spPr>
          <a:xfrm>
            <a:off x="7086600" y="3977639"/>
            <a:ext cx="1920240" cy="320040"/>
          </a:xfrm>
          <a:prstGeom prst="rect">
            <a:avLst/>
          </a:prstGeom>
          <a:solidFill>
            <a:srgbClr val="2C1A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3995927"/>
            <a:ext cx="1828800" cy="283464"/>
          </a:xfrm>
          <a:prstGeom prst="rect">
            <a:avLst/>
          </a:prstGeom>
          <a:noFill/>
        </p:spPr>
        <p:txBody>
          <a:bodyPr wrap="square">
            <a:spAutoFit/>
          </a:bodyPr>
          <a:lstStyle/>
          <a:p>
            <a:pPr algn="ctr"/>
            <a:r>
              <a:rPr sz="1000" b="1">
                <a:solidFill>
                  <a:srgbClr val="F59E0B"/>
                </a:solidFill>
                <a:latin typeface="Inter"/>
              </a:rPr>
              <a:t>RegistryService</a:t>
            </a:r>
          </a:p>
        </p:txBody>
      </p:sp>
      <p:sp>
        <p:nvSpPr>
          <p:cNvPr id="16" name="Rectangle 15"/>
          <p:cNvSpPr/>
          <p:nvPr/>
        </p:nvSpPr>
        <p:spPr>
          <a:xfrm>
            <a:off x="9052560" y="3977639"/>
            <a:ext cx="1920240" cy="320040"/>
          </a:xfrm>
          <a:prstGeom prst="rect">
            <a:avLst/>
          </a:prstGeom>
          <a:solidFill>
            <a:srgbClr val="2C0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3995927"/>
            <a:ext cx="1828800" cy="283464"/>
          </a:xfrm>
          <a:prstGeom prst="rect">
            <a:avLst/>
          </a:prstGeom>
          <a:noFill/>
        </p:spPr>
        <p:txBody>
          <a:bodyPr wrap="square">
            <a:spAutoFit/>
          </a:bodyPr>
          <a:lstStyle/>
          <a:p>
            <a:pPr algn="ctr"/>
            <a:r>
              <a:rPr sz="1000" b="1">
                <a:solidFill>
                  <a:srgbClr val="FB7185"/>
                </a:solidFill>
                <a:latin typeface="Inter"/>
              </a:rPr>
              <a:t>SREDemo</a:t>
            </a:r>
          </a:p>
        </p:txBody>
      </p:sp>
      <p:sp>
        <p:nvSpPr>
          <p:cNvPr id="18" name="TextBox 17"/>
          <p:cNvSpPr txBox="1"/>
          <p:nvPr/>
        </p:nvSpPr>
        <p:spPr>
          <a:xfrm>
            <a:off x="1371600" y="4572000"/>
            <a:ext cx="9144000" cy="457200"/>
          </a:xfrm>
          <a:prstGeom prst="rect">
            <a:avLst/>
          </a:prstGeom>
          <a:noFill/>
        </p:spPr>
        <p:txBody>
          <a:bodyPr wrap="square">
            <a:spAutoFit/>
          </a:bodyPr>
          <a:lstStyle/>
          <a:p>
            <a:pPr algn="ctr"/>
            <a:r>
              <a:rPr sz="1200" b="0">
                <a:solidFill>
                  <a:srgbClr val="484F58"/>
                </a:solidFill>
                <a:latin typeface="Inter"/>
              </a:rPr>
              <a:t>Agentic Seattle Hackathon · 2026</a:t>
            </a:r>
          </a:p>
        </p:txBody>
      </p:sp>
      <p:sp>
        <p:nvSpPr>
          <p:cNvPr id="19" name="TextBox 18"/>
          <p:cNvSpPr txBox="1"/>
          <p:nvPr/>
        </p:nvSpPr>
        <p:spPr>
          <a:xfrm>
            <a:off x="1371600" y="5029200"/>
            <a:ext cx="9144000" cy="457200"/>
          </a:xfrm>
          <a:prstGeom prst="rect">
            <a:avLst/>
          </a:prstGeom>
          <a:noFill/>
        </p:spPr>
        <p:txBody>
          <a:bodyPr wrap="square">
            <a:spAutoFit/>
          </a:bodyPr>
          <a:lstStyle/>
          <a:p>
            <a:pPr algn="ctr"/>
            <a:r>
              <a:rPr sz="1200" b="0">
                <a:solidFill>
                  <a:srgbClr val="8B949E"/>
                </a:solidFill>
                <a:latin typeface="Inter"/>
              </a:rPr>
              <a:t>mauttaram@gmail.com</a:t>
            </a:r>
          </a:p>
        </p:txBody>
      </p:sp>
      <p:sp>
        <p:nvSpPr>
          <p:cNvPr id="20" name="TextBox 19"/>
          <p:cNvSpPr txBox="1"/>
          <p:nvPr/>
        </p:nvSpPr>
        <p:spPr>
          <a:xfrm>
            <a:off x="1371600" y="5394960"/>
            <a:ext cx="9144000" cy="457200"/>
          </a:xfrm>
          <a:prstGeom prst="rect">
            <a:avLst/>
          </a:prstGeom>
          <a:noFill/>
        </p:spPr>
        <p:txBody>
          <a:bodyPr wrap="square">
            <a:spAutoFit/>
          </a:bodyPr>
          <a:lstStyle/>
          <a:p>
            <a:pPr algn="ctr"/>
            <a:r>
              <a:rPr sz="1200" b="0">
                <a:solidFill>
                  <a:srgbClr val="A78BFA"/>
                </a:solidFill>
                <a:latin typeface="Inter"/>
              </a:rPr>
              <a:t>github.com/AgenticFrmk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94360"/>
          </a:xfrm>
          <a:prstGeom prst="rect">
            <a:avLst/>
          </a:prstGeom>
          <a:noFill/>
        </p:spPr>
        <p:txBody>
          <a:bodyPr wrap="square">
            <a:spAutoFit/>
          </a:bodyPr>
          <a:lstStyle/>
          <a:p>
            <a:pPr algn="l"/>
            <a:r>
              <a:rPr sz="3000" b="1">
                <a:solidFill>
                  <a:srgbClr val="E6EDF3"/>
                </a:solidFill>
                <a:latin typeface="Inter"/>
              </a:rPr>
              <a:t>The Problem</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02</a:t>
            </a:r>
          </a:p>
        </p:txBody>
      </p:sp>
      <p:sp>
        <p:nvSpPr>
          <p:cNvPr id="5" name="Rectangle 4"/>
          <p:cNvSpPr/>
          <p:nvPr/>
        </p:nvSpPr>
        <p:spPr>
          <a:xfrm>
            <a:off x="457200" y="1097280"/>
            <a:ext cx="3657600" cy="2011680"/>
          </a:xfrm>
          <a:prstGeom prst="rect">
            <a:avLst/>
          </a:prstGeom>
          <a:solidFill>
            <a:srgbClr val="12062A"/>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3474720" cy="914400"/>
          </a:xfrm>
          <a:prstGeom prst="rect">
            <a:avLst/>
          </a:prstGeom>
          <a:noFill/>
        </p:spPr>
        <p:txBody>
          <a:bodyPr wrap="square">
            <a:spAutoFit/>
          </a:bodyPr>
          <a:lstStyle/>
          <a:p>
            <a:pPr algn="ctr"/>
            <a:r>
              <a:rPr sz="5200" b="1">
                <a:solidFill>
                  <a:srgbClr val="A78BFA"/>
                </a:solidFill>
                <a:latin typeface="Inter"/>
              </a:rPr>
              <a:t>$5,600</a:t>
            </a:r>
          </a:p>
        </p:txBody>
      </p:sp>
      <p:sp>
        <p:nvSpPr>
          <p:cNvPr id="7" name="TextBox 6"/>
          <p:cNvSpPr txBox="1"/>
          <p:nvPr/>
        </p:nvSpPr>
        <p:spPr>
          <a:xfrm>
            <a:off x="548640" y="2148840"/>
            <a:ext cx="3474720" cy="502920"/>
          </a:xfrm>
          <a:prstGeom prst="rect">
            <a:avLst/>
          </a:prstGeom>
          <a:noFill/>
        </p:spPr>
        <p:txBody>
          <a:bodyPr wrap="square">
            <a:spAutoFit/>
          </a:bodyPr>
          <a:lstStyle/>
          <a:p>
            <a:pPr algn="ctr"/>
            <a:r>
              <a:rPr sz="1200" b="0">
                <a:solidFill>
                  <a:srgbClr val="8B949E"/>
                </a:solidFill>
                <a:latin typeface="Inter"/>
              </a:rPr>
              <a:t>per minute of P1 downtime</a:t>
            </a:r>
          </a:p>
        </p:txBody>
      </p:sp>
      <p:sp>
        <p:nvSpPr>
          <p:cNvPr id="8" name="Rectangle 7"/>
          <p:cNvSpPr/>
          <p:nvPr/>
        </p:nvSpPr>
        <p:spPr>
          <a:xfrm>
            <a:off x="4297680" y="1097280"/>
            <a:ext cx="3474720" cy="201168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234440"/>
            <a:ext cx="3291840" cy="822960"/>
          </a:xfrm>
          <a:prstGeom prst="rect">
            <a:avLst/>
          </a:prstGeom>
          <a:noFill/>
        </p:spPr>
        <p:txBody>
          <a:bodyPr wrap="square">
            <a:spAutoFit/>
          </a:bodyPr>
          <a:lstStyle/>
          <a:p>
            <a:pPr algn="ctr"/>
            <a:r>
              <a:rPr sz="4000" b="1">
                <a:solidFill>
                  <a:srgbClr val="F59E0B"/>
                </a:solidFill>
                <a:latin typeface="Inter"/>
              </a:rPr>
              <a:t>45–90 min</a:t>
            </a:r>
          </a:p>
        </p:txBody>
      </p:sp>
      <p:sp>
        <p:nvSpPr>
          <p:cNvPr id="10" name="TextBox 9"/>
          <p:cNvSpPr txBox="1"/>
          <p:nvPr/>
        </p:nvSpPr>
        <p:spPr>
          <a:xfrm>
            <a:off x="4389120" y="2057400"/>
            <a:ext cx="3291840" cy="594360"/>
          </a:xfrm>
          <a:prstGeom prst="rect">
            <a:avLst/>
          </a:prstGeom>
          <a:noFill/>
        </p:spPr>
        <p:txBody>
          <a:bodyPr wrap="square">
            <a:spAutoFit/>
          </a:bodyPr>
          <a:lstStyle/>
          <a:p>
            <a:pPr algn="ctr"/>
            <a:r>
              <a:rPr sz="1200" b="0">
                <a:solidFill>
                  <a:srgbClr val="8B949E"/>
                </a:solidFill>
                <a:latin typeface="Inter"/>
              </a:rPr>
              <a:t>manual triage per P1 incident</a:t>
            </a:r>
          </a:p>
        </p:txBody>
      </p:sp>
      <p:sp>
        <p:nvSpPr>
          <p:cNvPr id="11" name="Rectangle 10"/>
          <p:cNvSpPr/>
          <p:nvPr/>
        </p:nvSpPr>
        <p:spPr>
          <a:xfrm>
            <a:off x="7955279" y="1097280"/>
            <a:ext cx="3749039" cy="201168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1234440"/>
            <a:ext cx="3566160" cy="822960"/>
          </a:xfrm>
          <a:prstGeom prst="rect">
            <a:avLst/>
          </a:prstGeom>
          <a:noFill/>
        </p:spPr>
        <p:txBody>
          <a:bodyPr wrap="square">
            <a:spAutoFit/>
          </a:bodyPr>
          <a:lstStyle/>
          <a:p>
            <a:pPr algn="ctr"/>
            <a:r>
              <a:rPr sz="2800" b="1">
                <a:solidFill>
                  <a:srgbClr val="F87171"/>
                </a:solidFill>
                <a:latin typeface="Inter"/>
              </a:rPr>
              <a:t>$250K–$500K</a:t>
            </a:r>
          </a:p>
        </p:txBody>
      </p:sp>
      <p:sp>
        <p:nvSpPr>
          <p:cNvPr id="13" name="TextBox 12"/>
          <p:cNvSpPr txBox="1"/>
          <p:nvPr/>
        </p:nvSpPr>
        <p:spPr>
          <a:xfrm>
            <a:off x="8046720" y="2057400"/>
            <a:ext cx="3566160" cy="594360"/>
          </a:xfrm>
          <a:prstGeom prst="rect">
            <a:avLst/>
          </a:prstGeom>
          <a:noFill/>
        </p:spPr>
        <p:txBody>
          <a:bodyPr wrap="square">
            <a:spAutoFit/>
          </a:bodyPr>
          <a:lstStyle/>
          <a:p>
            <a:pPr algn="ctr"/>
            <a:r>
              <a:rPr sz="1200" b="0">
                <a:solidFill>
                  <a:srgbClr val="8B949E"/>
                </a:solidFill>
                <a:latin typeface="Inter"/>
              </a:rPr>
              <a:t>cost per incident (labour + downtime)</a:t>
            </a:r>
          </a:p>
        </p:txBody>
      </p:sp>
      <p:cxnSp>
        <p:nvCxnSpPr>
          <p:cNvPr id="14" name="Connector 13"/>
          <p:cNvCxnSpPr/>
          <p:nvPr/>
        </p:nvCxnSpPr>
        <p:spPr>
          <a:xfrm>
            <a:off x="365760" y="3291840"/>
            <a:ext cx="11457432" cy="0"/>
          </a:xfrm>
          <a:prstGeom prst="line">
            <a:avLst/>
          </a:prstGeom>
          <a:ln w="6350">
            <a:solidFill>
              <a:srgbClr val="1C233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3383280"/>
            <a:ext cx="11247120" cy="548640"/>
          </a:xfrm>
          <a:prstGeom prst="rect">
            <a:avLst/>
          </a:prstGeom>
          <a:noFill/>
        </p:spPr>
        <p:txBody>
          <a:bodyPr wrap="square">
            <a:spAutoFit/>
          </a:bodyPr>
          <a:lstStyle/>
          <a:p>
            <a:pPr algn="l"/>
            <a:r>
              <a:rPr sz="1400" b="0">
                <a:solidFill>
                  <a:srgbClr val="8B949E"/>
                </a:solidFill>
                <a:latin typeface="Inter"/>
              </a:rPr>
              <a:t>The obvious answer: an AI agent.   The problem: every agent framework built today is a demo.</a:t>
            </a:r>
          </a:p>
        </p:txBody>
      </p:sp>
      <p:sp>
        <p:nvSpPr>
          <p:cNvPr id="16" name="Rectangle 15"/>
          <p:cNvSpPr/>
          <p:nvPr/>
        </p:nvSpPr>
        <p:spPr>
          <a:xfrm>
            <a:off x="457200" y="4069080"/>
            <a:ext cx="4206240"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096512"/>
            <a:ext cx="3931920" cy="292608"/>
          </a:xfrm>
          <a:prstGeom prst="rect">
            <a:avLst/>
          </a:prstGeom>
          <a:noFill/>
        </p:spPr>
        <p:txBody>
          <a:bodyPr wrap="square">
            <a:spAutoFit/>
          </a:bodyPr>
          <a:lstStyle/>
          <a:p>
            <a:pPr algn="l"/>
            <a:r>
              <a:rPr sz="1000" b="1">
                <a:solidFill>
                  <a:srgbClr val="F87171"/>
                </a:solidFill>
                <a:latin typeface="Inter"/>
              </a:rPr>
              <a:t>What demo agents do</a:t>
            </a:r>
          </a:p>
        </p:txBody>
      </p:sp>
      <p:sp>
        <p:nvSpPr>
          <p:cNvPr id="18" name="Rectangle 17"/>
          <p:cNvSpPr/>
          <p:nvPr/>
        </p:nvSpPr>
        <p:spPr>
          <a:xfrm>
            <a:off x="4846320" y="4069080"/>
            <a:ext cx="4206240" cy="32004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80" y="4096512"/>
            <a:ext cx="3931920" cy="292608"/>
          </a:xfrm>
          <a:prstGeom prst="rect">
            <a:avLst/>
          </a:prstGeom>
          <a:noFill/>
        </p:spPr>
        <p:txBody>
          <a:bodyPr wrap="square">
            <a:spAutoFit/>
          </a:bodyPr>
          <a:lstStyle/>
          <a:p>
            <a:pPr algn="l"/>
            <a:r>
              <a:rPr sz="1000" b="1">
                <a:solidFill>
                  <a:srgbClr val="22C55E"/>
                </a:solidFill>
                <a:latin typeface="Inter"/>
              </a:rPr>
              <a:t>What production needs</a:t>
            </a:r>
          </a:p>
        </p:txBody>
      </p:sp>
      <p:sp>
        <p:nvSpPr>
          <p:cNvPr id="20" name="TextBox 19"/>
          <p:cNvSpPr txBox="1"/>
          <p:nvPr/>
        </p:nvSpPr>
        <p:spPr>
          <a:xfrm>
            <a:off x="457200" y="4462272"/>
            <a:ext cx="4206240" cy="274320"/>
          </a:xfrm>
          <a:prstGeom prst="rect">
            <a:avLst/>
          </a:prstGeom>
          <a:noFill/>
        </p:spPr>
        <p:txBody>
          <a:bodyPr wrap="square">
            <a:spAutoFit/>
          </a:bodyPr>
          <a:lstStyle/>
          <a:p>
            <a:pPr algn="l"/>
            <a:r>
              <a:rPr sz="1000" b="0">
                <a:solidFill>
                  <a:srgbClr val="F87171"/>
                </a:solidFill>
                <a:latin typeface="Inter"/>
              </a:rPr>
              <a:t>✕  Single LLM call</a:t>
            </a:r>
          </a:p>
        </p:txBody>
      </p:sp>
      <p:sp>
        <p:nvSpPr>
          <p:cNvPr id="21" name="TextBox 20"/>
          <p:cNvSpPr txBox="1"/>
          <p:nvPr/>
        </p:nvSpPr>
        <p:spPr>
          <a:xfrm>
            <a:off x="4846320" y="4462272"/>
            <a:ext cx="6858000" cy="274320"/>
          </a:xfrm>
          <a:prstGeom prst="rect">
            <a:avLst/>
          </a:prstGeom>
          <a:noFill/>
        </p:spPr>
        <p:txBody>
          <a:bodyPr wrap="square">
            <a:spAutoFit/>
          </a:bodyPr>
          <a:lstStyle/>
          <a:p>
            <a:pPr algn="l"/>
            <a:r>
              <a:rPr sz="1000" b="0">
                <a:solidFill>
                  <a:srgbClr val="22C55E"/>
                </a:solidFill>
                <a:latin typeface="Inter"/>
              </a:rPr>
              <a:t>✓  9-node LangGraph StateGraph</a:t>
            </a:r>
          </a:p>
        </p:txBody>
      </p:sp>
      <p:sp>
        <p:nvSpPr>
          <p:cNvPr id="22" name="TextBox 21"/>
          <p:cNvSpPr txBox="1"/>
          <p:nvPr/>
        </p:nvSpPr>
        <p:spPr>
          <a:xfrm>
            <a:off x="457200" y="4736592"/>
            <a:ext cx="4206240" cy="274320"/>
          </a:xfrm>
          <a:prstGeom prst="rect">
            <a:avLst/>
          </a:prstGeom>
          <a:noFill/>
        </p:spPr>
        <p:txBody>
          <a:bodyPr wrap="square">
            <a:spAutoFit/>
          </a:bodyPr>
          <a:lstStyle/>
          <a:p>
            <a:pPr algn="l"/>
            <a:r>
              <a:rPr sz="1000" b="0">
                <a:solidFill>
                  <a:srgbClr val="F87171"/>
                </a:solidFill>
                <a:latin typeface="Inter"/>
              </a:rPr>
              <a:t>✕  Sequential steps</a:t>
            </a:r>
          </a:p>
        </p:txBody>
      </p:sp>
      <p:sp>
        <p:nvSpPr>
          <p:cNvPr id="23" name="TextBox 22"/>
          <p:cNvSpPr txBox="1"/>
          <p:nvPr/>
        </p:nvSpPr>
        <p:spPr>
          <a:xfrm>
            <a:off x="4846320" y="4736592"/>
            <a:ext cx="6858000" cy="274320"/>
          </a:xfrm>
          <a:prstGeom prst="rect">
            <a:avLst/>
          </a:prstGeom>
          <a:noFill/>
        </p:spPr>
        <p:txBody>
          <a:bodyPr wrap="square">
            <a:spAutoFit/>
          </a:bodyPr>
          <a:lstStyle/>
          <a:p>
            <a:pPr algn="l"/>
            <a:r>
              <a:rPr sz="1000" b="0">
                <a:solidFill>
                  <a:srgbClr val="22C55E"/>
                </a:solidFill>
                <a:latin typeface="Inter"/>
              </a:rPr>
              <a:t>✓  Auto DAG-based parallel execution</a:t>
            </a:r>
          </a:p>
        </p:txBody>
      </p:sp>
      <p:sp>
        <p:nvSpPr>
          <p:cNvPr id="24" name="TextBox 23"/>
          <p:cNvSpPr txBox="1"/>
          <p:nvPr/>
        </p:nvSpPr>
        <p:spPr>
          <a:xfrm>
            <a:off x="457200" y="5010912"/>
            <a:ext cx="4206240" cy="274320"/>
          </a:xfrm>
          <a:prstGeom prst="rect">
            <a:avLst/>
          </a:prstGeom>
          <a:noFill/>
        </p:spPr>
        <p:txBody>
          <a:bodyPr wrap="square">
            <a:spAutoFit/>
          </a:bodyPr>
          <a:lstStyle/>
          <a:p>
            <a:pPr algn="l"/>
            <a:r>
              <a:rPr sz="1000" b="0">
                <a:solidFill>
                  <a:srgbClr val="F87171"/>
                </a:solidFill>
                <a:latin typeface="Inter"/>
              </a:rPr>
              <a:t>✕  No crash recovery</a:t>
            </a:r>
          </a:p>
        </p:txBody>
      </p:sp>
      <p:sp>
        <p:nvSpPr>
          <p:cNvPr id="25" name="TextBox 24"/>
          <p:cNvSpPr txBox="1"/>
          <p:nvPr/>
        </p:nvSpPr>
        <p:spPr>
          <a:xfrm>
            <a:off x="4846320" y="5010912"/>
            <a:ext cx="6858000" cy="274320"/>
          </a:xfrm>
          <a:prstGeom prst="rect">
            <a:avLst/>
          </a:prstGeom>
          <a:noFill/>
        </p:spPr>
        <p:txBody>
          <a:bodyPr wrap="square">
            <a:spAutoFit/>
          </a:bodyPr>
          <a:lstStyle/>
          <a:p>
            <a:pPr algn="l"/>
            <a:r>
              <a:rPr sz="1000" b="0">
                <a:solidFill>
                  <a:srgbClr val="22C55E"/>
                </a:solidFill>
                <a:latin typeface="Inter"/>
              </a:rPr>
              <a:t>✓  Claim/lease + auto re-claim on crash</a:t>
            </a:r>
          </a:p>
        </p:txBody>
      </p:sp>
      <p:sp>
        <p:nvSpPr>
          <p:cNvPr id="26" name="TextBox 25"/>
          <p:cNvSpPr txBox="1"/>
          <p:nvPr/>
        </p:nvSpPr>
        <p:spPr>
          <a:xfrm>
            <a:off x="457200" y="5285231"/>
            <a:ext cx="4206240" cy="274320"/>
          </a:xfrm>
          <a:prstGeom prst="rect">
            <a:avLst/>
          </a:prstGeom>
          <a:noFill/>
        </p:spPr>
        <p:txBody>
          <a:bodyPr wrap="square">
            <a:spAutoFit/>
          </a:bodyPr>
          <a:lstStyle/>
          <a:p>
            <a:pPr algn="l"/>
            <a:r>
              <a:rPr sz="1000" b="0">
                <a:solidFill>
                  <a:srgbClr val="F87171"/>
                </a:solidFill>
                <a:latin typeface="Inter"/>
              </a:rPr>
              <a:t>✕  Black-box reasoning</a:t>
            </a:r>
          </a:p>
        </p:txBody>
      </p:sp>
      <p:sp>
        <p:nvSpPr>
          <p:cNvPr id="27" name="TextBox 26"/>
          <p:cNvSpPr txBox="1"/>
          <p:nvPr/>
        </p:nvSpPr>
        <p:spPr>
          <a:xfrm>
            <a:off x="4846320" y="5285231"/>
            <a:ext cx="6858000" cy="274320"/>
          </a:xfrm>
          <a:prstGeom prst="rect">
            <a:avLst/>
          </a:prstGeom>
          <a:noFill/>
        </p:spPr>
        <p:txBody>
          <a:bodyPr wrap="square">
            <a:spAutoFit/>
          </a:bodyPr>
          <a:lstStyle/>
          <a:p>
            <a:pPr algn="l"/>
            <a:r>
              <a:rPr sz="1000" b="0">
                <a:solidFill>
                  <a:srgbClr val="22C55E"/>
                </a:solidFill>
                <a:latin typeface="Inter"/>
              </a:rPr>
              <a:t>✓  Explicit CoT trace surfaced to user</a:t>
            </a:r>
          </a:p>
        </p:txBody>
      </p:sp>
      <p:sp>
        <p:nvSpPr>
          <p:cNvPr id="28" name="TextBox 27"/>
          <p:cNvSpPr txBox="1"/>
          <p:nvPr/>
        </p:nvSpPr>
        <p:spPr>
          <a:xfrm>
            <a:off x="457200" y="5559551"/>
            <a:ext cx="4206240" cy="274320"/>
          </a:xfrm>
          <a:prstGeom prst="rect">
            <a:avLst/>
          </a:prstGeom>
          <a:noFill/>
        </p:spPr>
        <p:txBody>
          <a:bodyPr wrap="square">
            <a:spAutoFit/>
          </a:bodyPr>
          <a:lstStyle/>
          <a:p>
            <a:pPr algn="l"/>
            <a:r>
              <a:rPr sz="1000" b="0">
                <a:solidFill>
                  <a:srgbClr val="F87171"/>
                </a:solidFill>
                <a:latin typeface="Inter"/>
              </a:rPr>
              <a:t>✕  No auth</a:t>
            </a:r>
          </a:p>
        </p:txBody>
      </p:sp>
      <p:sp>
        <p:nvSpPr>
          <p:cNvPr id="29" name="TextBox 28"/>
          <p:cNvSpPr txBox="1"/>
          <p:nvPr/>
        </p:nvSpPr>
        <p:spPr>
          <a:xfrm>
            <a:off x="4846320" y="5559551"/>
            <a:ext cx="6858000" cy="274320"/>
          </a:xfrm>
          <a:prstGeom prst="rect">
            <a:avLst/>
          </a:prstGeom>
          <a:noFill/>
        </p:spPr>
        <p:txBody>
          <a:bodyPr wrap="square">
            <a:spAutoFit/>
          </a:bodyPr>
          <a:lstStyle/>
          <a:p>
            <a:pPr algn="l"/>
            <a:r>
              <a:rPr sz="1000" b="0">
                <a:solidFill>
                  <a:srgbClr val="22C55E"/>
                </a:solidFill>
                <a:latin typeface="Inter"/>
              </a:rPr>
              <a:t>✓  RS256 JWT + session identity binding</a:t>
            </a:r>
          </a:p>
        </p:txBody>
      </p:sp>
      <p:sp>
        <p:nvSpPr>
          <p:cNvPr id="30" name="TextBox 29"/>
          <p:cNvSpPr txBox="1"/>
          <p:nvPr/>
        </p:nvSpPr>
        <p:spPr>
          <a:xfrm>
            <a:off x="457200" y="5833871"/>
            <a:ext cx="4206240" cy="274320"/>
          </a:xfrm>
          <a:prstGeom prst="rect">
            <a:avLst/>
          </a:prstGeom>
          <a:noFill/>
        </p:spPr>
        <p:txBody>
          <a:bodyPr wrap="square">
            <a:spAutoFit/>
          </a:bodyPr>
          <a:lstStyle/>
          <a:p>
            <a:pPr algn="l"/>
            <a:r>
              <a:rPr sz="1000" b="0">
                <a:solidFill>
                  <a:srgbClr val="F87171"/>
                </a:solidFill>
                <a:latin typeface="Inter"/>
              </a:rPr>
              <a:t>✕  No memory management</a:t>
            </a:r>
          </a:p>
        </p:txBody>
      </p:sp>
      <p:sp>
        <p:nvSpPr>
          <p:cNvPr id="31" name="TextBox 30"/>
          <p:cNvSpPr txBox="1"/>
          <p:nvPr/>
        </p:nvSpPr>
        <p:spPr>
          <a:xfrm>
            <a:off x="4846320" y="5833871"/>
            <a:ext cx="6858000" cy="274320"/>
          </a:xfrm>
          <a:prstGeom prst="rect">
            <a:avLst/>
          </a:prstGeom>
          <a:noFill/>
        </p:spPr>
        <p:txBody>
          <a:bodyPr wrap="square">
            <a:spAutoFit/>
          </a:bodyPr>
          <a:lstStyle/>
          <a:p>
            <a:pPr algn="l"/>
            <a:r>
              <a:rPr sz="1000" b="0">
                <a:solidFill>
                  <a:srgbClr val="22C55E"/>
                </a:solidFill>
                <a:latin typeface="Inter"/>
              </a:rPr>
              <a:t>✓  Context budget + sliding-window compaction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9144000" cy="548640"/>
          </a:xfrm>
          <a:prstGeom prst="rect">
            <a:avLst/>
          </a:prstGeom>
          <a:noFill/>
        </p:spPr>
        <p:txBody>
          <a:bodyPr wrap="square">
            <a:spAutoFit/>
          </a:bodyPr>
          <a:lstStyle/>
          <a:p>
            <a:pPr algn="l"/>
            <a:r>
              <a:rPr sz="2800" b="1">
                <a:solidFill>
                  <a:srgbClr val="E6EDF3"/>
                </a:solidFill>
                <a:latin typeface="Inter"/>
              </a:rPr>
              <a:t>The Solution: AgenticFrmk Platform</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03</a:t>
            </a:r>
          </a:p>
        </p:txBody>
      </p:sp>
      <p:sp>
        <p:nvSpPr>
          <p:cNvPr id="5" name="Rectangle 4"/>
          <p:cNvSpPr/>
          <p:nvPr/>
        </p:nvSpPr>
        <p:spPr>
          <a:xfrm>
            <a:off x="411480" y="1051560"/>
            <a:ext cx="2194560" cy="3474720"/>
          </a:xfrm>
          <a:prstGeom prst="rect">
            <a:avLst/>
          </a:prstGeom>
          <a:solidFill>
            <a:srgbClr val="062A14"/>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1920240" cy="411480"/>
          </a:xfrm>
          <a:prstGeom prst="rect">
            <a:avLst/>
          </a:prstGeom>
          <a:noFill/>
        </p:spPr>
        <p:txBody>
          <a:bodyPr wrap="square">
            <a:spAutoFit/>
          </a:bodyPr>
          <a:lstStyle/>
          <a:p>
            <a:pPr algn="l"/>
            <a:r>
              <a:rPr sz="1300" b="1">
                <a:solidFill>
                  <a:srgbClr val="22C55E"/>
                </a:solidFill>
                <a:latin typeface="Inter"/>
              </a:rPr>
              <a:t>AuthService</a:t>
            </a:r>
          </a:p>
        </p:txBody>
      </p:sp>
      <p:sp>
        <p:nvSpPr>
          <p:cNvPr id="7" name="Rectangle 6"/>
          <p:cNvSpPr/>
          <p:nvPr/>
        </p:nvSpPr>
        <p:spPr>
          <a:xfrm>
            <a:off x="457200" y="1572768"/>
            <a:ext cx="2103120" cy="3657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64208"/>
            <a:ext cx="1920240" cy="2743200"/>
          </a:xfrm>
          <a:prstGeom prst="rect">
            <a:avLst/>
          </a:prstGeom>
          <a:noFill/>
        </p:spPr>
        <p:txBody>
          <a:bodyPr wrap="square">
            <a:spAutoFit/>
          </a:bodyPr>
          <a:lstStyle/>
          <a:p>
            <a:pPr algn="l"/>
            <a:r>
              <a:rPr sz="1050" b="0">
                <a:solidFill>
                  <a:srgbClr val="8B949E"/>
                </a:solidFill>
                <a:latin typeface="Inter"/>
              </a:rPr>
              <a:t>RS256 JWT
issuance
JWKS rotation</a:t>
            </a:r>
          </a:p>
        </p:txBody>
      </p:sp>
      <p:sp>
        <p:nvSpPr>
          <p:cNvPr id="9" name="Rectangle 8"/>
          <p:cNvSpPr/>
          <p:nvPr/>
        </p:nvSpPr>
        <p:spPr>
          <a:xfrm>
            <a:off x="2715768" y="1051560"/>
            <a:ext cx="2194560" cy="3474720"/>
          </a:xfrm>
          <a:prstGeom prst="rect">
            <a:avLst/>
          </a:prstGeom>
          <a:solidFill>
            <a:srgbClr val="1E1045"/>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52928" y="1143000"/>
            <a:ext cx="1920240" cy="411480"/>
          </a:xfrm>
          <a:prstGeom prst="rect">
            <a:avLst/>
          </a:prstGeom>
          <a:noFill/>
        </p:spPr>
        <p:txBody>
          <a:bodyPr wrap="square">
            <a:spAutoFit/>
          </a:bodyPr>
          <a:lstStyle/>
          <a:p>
            <a:pPr algn="l"/>
            <a:r>
              <a:rPr sz="1300" b="1">
                <a:solidFill>
                  <a:srgbClr val="A78BFA"/>
                </a:solidFill>
                <a:latin typeface="Inter"/>
              </a:rPr>
              <a:t>AgentGateway</a:t>
            </a:r>
          </a:p>
        </p:txBody>
      </p:sp>
      <p:sp>
        <p:nvSpPr>
          <p:cNvPr id="11" name="Rectangle 10"/>
          <p:cNvSpPr/>
          <p:nvPr/>
        </p:nvSpPr>
        <p:spPr>
          <a:xfrm>
            <a:off x="2761488" y="1572768"/>
            <a:ext cx="2103120" cy="36576"/>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2928" y="1664208"/>
            <a:ext cx="1920240" cy="2743200"/>
          </a:xfrm>
          <a:prstGeom prst="rect">
            <a:avLst/>
          </a:prstGeom>
          <a:noFill/>
        </p:spPr>
        <p:txBody>
          <a:bodyPr wrap="square">
            <a:spAutoFit/>
          </a:bodyPr>
          <a:lstStyle/>
          <a:p>
            <a:pPr algn="l"/>
            <a:r>
              <a:rPr sz="1050" b="0">
                <a:solidFill>
                  <a:srgbClr val="8B949E"/>
                </a:solidFill>
                <a:latin typeface="Inter"/>
              </a:rPr>
              <a:t>JWT verify
Session bind
Context budget
Compaction</a:t>
            </a:r>
          </a:p>
        </p:txBody>
      </p:sp>
      <p:sp>
        <p:nvSpPr>
          <p:cNvPr id="13" name="Rectangle 12"/>
          <p:cNvSpPr/>
          <p:nvPr/>
        </p:nvSpPr>
        <p:spPr>
          <a:xfrm>
            <a:off x="5020056" y="1051560"/>
            <a:ext cx="2194560" cy="3474720"/>
          </a:xfrm>
          <a:prstGeom prst="rect">
            <a:avLst/>
          </a:prstGeom>
          <a:solidFill>
            <a:srgbClr val="07212E"/>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57216" y="1143000"/>
            <a:ext cx="1920240" cy="411480"/>
          </a:xfrm>
          <a:prstGeom prst="rect">
            <a:avLst/>
          </a:prstGeom>
          <a:noFill/>
        </p:spPr>
        <p:txBody>
          <a:bodyPr wrap="square">
            <a:spAutoFit/>
          </a:bodyPr>
          <a:lstStyle/>
          <a:p>
            <a:pPr algn="l"/>
            <a:r>
              <a:rPr sz="1300" b="1">
                <a:solidFill>
                  <a:srgbClr val="38BDF8"/>
                </a:solidFill>
                <a:latin typeface="Inter"/>
              </a:rPr>
              <a:t>AgentCore</a:t>
            </a:r>
          </a:p>
        </p:txBody>
      </p:sp>
      <p:sp>
        <p:nvSpPr>
          <p:cNvPr id="15" name="Rectangle 14"/>
          <p:cNvSpPr/>
          <p:nvPr/>
        </p:nvSpPr>
        <p:spPr>
          <a:xfrm>
            <a:off x="5065776" y="1572768"/>
            <a:ext cx="2103120" cy="365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57216" y="1664208"/>
            <a:ext cx="1920240" cy="2743200"/>
          </a:xfrm>
          <a:prstGeom prst="rect">
            <a:avLst/>
          </a:prstGeom>
          <a:noFill/>
        </p:spPr>
        <p:txBody>
          <a:bodyPr wrap="square">
            <a:spAutoFit/>
          </a:bodyPr>
          <a:lstStyle/>
          <a:p>
            <a:pPr algn="l"/>
            <a:r>
              <a:rPr sz="1050" b="0">
                <a:solidFill>
                  <a:srgbClr val="8B949E"/>
                </a:solidFill>
                <a:latin typeface="Inter"/>
              </a:rPr>
              <a:t>LangGraph
9-node graph
DAG executor
HITL gates
121 tests</a:t>
            </a:r>
          </a:p>
        </p:txBody>
      </p:sp>
      <p:sp>
        <p:nvSpPr>
          <p:cNvPr id="17" name="Rectangle 16"/>
          <p:cNvSpPr/>
          <p:nvPr/>
        </p:nvSpPr>
        <p:spPr>
          <a:xfrm>
            <a:off x="7324344" y="1051560"/>
            <a:ext cx="2194560" cy="3474720"/>
          </a:xfrm>
          <a:prstGeom prst="rect">
            <a:avLst/>
          </a:prstGeom>
          <a:solidFill>
            <a:srgbClr val="2C1A03"/>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1143000"/>
            <a:ext cx="1920240" cy="411480"/>
          </a:xfrm>
          <a:prstGeom prst="rect">
            <a:avLst/>
          </a:prstGeom>
          <a:noFill/>
        </p:spPr>
        <p:txBody>
          <a:bodyPr wrap="square">
            <a:spAutoFit/>
          </a:bodyPr>
          <a:lstStyle/>
          <a:p>
            <a:pPr algn="l"/>
            <a:r>
              <a:rPr sz="1300" b="1">
                <a:solidFill>
                  <a:srgbClr val="F59E0B"/>
                </a:solidFill>
                <a:latin typeface="Inter"/>
              </a:rPr>
              <a:t>RegistryService</a:t>
            </a:r>
          </a:p>
        </p:txBody>
      </p:sp>
      <p:sp>
        <p:nvSpPr>
          <p:cNvPr id="19" name="Rectangle 18"/>
          <p:cNvSpPr/>
          <p:nvPr/>
        </p:nvSpPr>
        <p:spPr>
          <a:xfrm>
            <a:off x="7370064" y="1572768"/>
            <a:ext cx="210312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61504" y="1664208"/>
            <a:ext cx="1920240" cy="2743200"/>
          </a:xfrm>
          <a:prstGeom prst="rect">
            <a:avLst/>
          </a:prstGeom>
          <a:noFill/>
        </p:spPr>
        <p:txBody>
          <a:bodyPr wrap="square">
            <a:spAutoFit/>
          </a:bodyPr>
          <a:lstStyle/>
          <a:p>
            <a:pPr algn="l"/>
            <a:r>
              <a:rPr sz="1050" b="0">
                <a:solidFill>
                  <a:srgbClr val="8B949E"/>
                </a:solidFill>
                <a:latin typeface="Inter"/>
              </a:rPr>
              <a:t>Schema Registry
Tool Registry
Playbook Rules
Versioned API</a:t>
            </a:r>
          </a:p>
        </p:txBody>
      </p:sp>
      <p:sp>
        <p:nvSpPr>
          <p:cNvPr id="21" name="Rectangle 20"/>
          <p:cNvSpPr/>
          <p:nvPr/>
        </p:nvSpPr>
        <p:spPr>
          <a:xfrm>
            <a:off x="9628632" y="1051560"/>
            <a:ext cx="2194560" cy="3474720"/>
          </a:xfrm>
          <a:prstGeom prst="rect">
            <a:avLst/>
          </a:prstGeom>
          <a:solidFill>
            <a:srgbClr val="2C0814"/>
          </a:solidFill>
          <a:ln w="9525">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1143000"/>
            <a:ext cx="1920240" cy="411480"/>
          </a:xfrm>
          <a:prstGeom prst="rect">
            <a:avLst/>
          </a:prstGeom>
          <a:noFill/>
        </p:spPr>
        <p:txBody>
          <a:bodyPr wrap="square">
            <a:spAutoFit/>
          </a:bodyPr>
          <a:lstStyle/>
          <a:p>
            <a:pPr algn="l"/>
            <a:r>
              <a:rPr sz="1300" b="1">
                <a:solidFill>
                  <a:srgbClr val="FB7185"/>
                </a:solidFill>
                <a:latin typeface="Inter"/>
              </a:rPr>
              <a:t>SREDemo</a:t>
            </a:r>
          </a:p>
        </p:txBody>
      </p:sp>
      <p:sp>
        <p:nvSpPr>
          <p:cNvPr id="23" name="Rectangle 22"/>
          <p:cNvSpPr/>
          <p:nvPr/>
        </p:nvSpPr>
        <p:spPr>
          <a:xfrm>
            <a:off x="9674352" y="1572768"/>
            <a:ext cx="2103120" cy="36576"/>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65792" y="1664208"/>
            <a:ext cx="1920240" cy="2743200"/>
          </a:xfrm>
          <a:prstGeom prst="rect">
            <a:avLst/>
          </a:prstGeom>
          <a:noFill/>
        </p:spPr>
        <p:txBody>
          <a:bodyPr wrap="square">
            <a:spAutoFit/>
          </a:bodyPr>
          <a:lstStyle/>
          <a:p>
            <a:pPr algn="l"/>
            <a:r>
              <a:rPr sz="1050" b="0">
                <a:solidFill>
                  <a:srgbClr val="8B949E"/>
                </a:solidFill>
                <a:latin typeface="Inter"/>
              </a:rPr>
              <a:t>React 18 UI
FastAPI SSE
Plan History
4 scenarios</a:t>
            </a:r>
          </a:p>
        </p:txBody>
      </p:sp>
      <p:sp>
        <p:nvSpPr>
          <p:cNvPr id="25" name="Rectangle 24"/>
          <p:cNvSpPr/>
          <p:nvPr/>
        </p:nvSpPr>
        <p:spPr>
          <a:xfrm>
            <a:off x="457200" y="4846320"/>
            <a:ext cx="11274552"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029200"/>
            <a:ext cx="10789920" cy="685800"/>
          </a:xfrm>
          <a:prstGeom prst="rect">
            <a:avLst/>
          </a:prstGeom>
          <a:noFill/>
        </p:spPr>
        <p:txBody>
          <a:bodyPr wrap="square">
            <a:spAutoFit/>
          </a:bodyPr>
          <a:lstStyle/>
          <a:p>
            <a:pPr algn="ctr"/>
            <a:r>
              <a:rPr sz="1500" b="1">
                <a:solidFill>
                  <a:srgbClr val="A78BFA"/>
                </a:solidFill>
                <a:latin typeface="Inter"/>
              </a:rPr>
              <a:t>"These aren't edge cases. They're the default failure mode of every agent deployed today."</a:t>
            </a:r>
          </a:p>
        </p:txBody>
      </p:sp>
      <p:sp>
        <p:nvSpPr>
          <p:cNvPr id="27" name="TextBox 26"/>
          <p:cNvSpPr txBox="1"/>
          <p:nvPr/>
        </p:nvSpPr>
        <p:spPr>
          <a:xfrm>
            <a:off x="731520" y="5577840"/>
            <a:ext cx="10789920" cy="685800"/>
          </a:xfrm>
          <a:prstGeom prst="rect">
            <a:avLst/>
          </a:prstGeom>
          <a:noFill/>
        </p:spPr>
        <p:txBody>
          <a:bodyPr wrap="square">
            <a:spAutoFit/>
          </a:bodyPr>
          <a:lstStyle/>
          <a:p>
            <a:pPr algn="ctr"/>
            <a:r>
              <a:rPr sz="1200" b="0">
                <a:solidFill>
                  <a:srgbClr val="8B949E"/>
                </a:solidFill>
                <a:latin typeface="Inter"/>
              </a:rPr>
              <a:t>AgenticFrmk is the infrastructure layer that closes every one of these gaps — in production, not in a notebook.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5486400" cy="548640"/>
          </a:xfrm>
          <a:prstGeom prst="rect">
            <a:avLst/>
          </a:prstGeom>
          <a:noFill/>
        </p:spPr>
        <p:txBody>
          <a:bodyPr wrap="square">
            <a:spAutoFit/>
          </a:bodyPr>
          <a:lstStyle/>
          <a:p>
            <a:pPr algn="l"/>
            <a:r>
              <a:rPr sz="2800" b="1">
                <a:solidFill>
                  <a:srgbClr val="E6EDF3"/>
                </a:solidFill>
                <a:latin typeface="Inter"/>
              </a:rPr>
              <a:t>AgentGateway</a:t>
            </a:r>
          </a:p>
        </p:txBody>
      </p:sp>
      <p:sp>
        <p:nvSpPr>
          <p:cNvPr id="4" name="TextBox 3"/>
          <p:cNvSpPr txBox="1"/>
          <p:nvPr/>
        </p:nvSpPr>
        <p:spPr>
          <a:xfrm>
            <a:off x="658368" y="868680"/>
            <a:ext cx="7315200" cy="411480"/>
          </a:xfrm>
          <a:prstGeom prst="rect">
            <a:avLst/>
          </a:prstGeom>
          <a:noFill/>
        </p:spPr>
        <p:txBody>
          <a:bodyPr wrap="square">
            <a:spAutoFit/>
          </a:bodyPr>
          <a:lstStyle/>
          <a:p>
            <a:pPr algn="l"/>
            <a:r>
              <a:rPr sz="1500" b="0">
                <a:solidFill>
                  <a:srgbClr val="A78BFA"/>
                </a:solidFill>
                <a:latin typeface="Inter"/>
              </a:rPr>
              <a:t>The production entry point nobody else built</a:t>
            </a:r>
          </a:p>
        </p:txBody>
      </p:sp>
      <p:sp>
        <p:nvSpPr>
          <p:cNvPr id="5" name="TextBox 4"/>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04</a:t>
            </a:r>
          </a:p>
        </p:txBody>
      </p:sp>
      <p:sp>
        <p:nvSpPr>
          <p:cNvPr id="6" name="Rectangle 5"/>
          <p:cNvSpPr/>
          <p:nvPr/>
        </p:nvSpPr>
        <p:spPr>
          <a:xfrm>
            <a:off x="457200" y="1417320"/>
            <a:ext cx="11274552" cy="8229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73152" cy="82296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72184"/>
            <a:ext cx="3200400" cy="320040"/>
          </a:xfrm>
          <a:prstGeom prst="rect">
            <a:avLst/>
          </a:prstGeom>
          <a:noFill/>
        </p:spPr>
        <p:txBody>
          <a:bodyPr wrap="square">
            <a:spAutoFit/>
          </a:bodyPr>
          <a:lstStyle/>
          <a:p>
            <a:pPr algn="l"/>
            <a:r>
              <a:rPr sz="1100" b="1">
                <a:solidFill>
                  <a:srgbClr val="A78BFA"/>
                </a:solidFill>
                <a:latin typeface="Inter"/>
              </a:rPr>
              <a:t>RS256 JWT Verification</a:t>
            </a:r>
          </a:p>
        </p:txBody>
      </p:sp>
      <p:sp>
        <p:nvSpPr>
          <p:cNvPr id="9" name="TextBox 8"/>
          <p:cNvSpPr txBox="1"/>
          <p:nvPr/>
        </p:nvSpPr>
        <p:spPr>
          <a:xfrm>
            <a:off x="3931920" y="1472184"/>
            <a:ext cx="7589520" cy="685800"/>
          </a:xfrm>
          <a:prstGeom prst="rect">
            <a:avLst/>
          </a:prstGeom>
          <a:noFill/>
        </p:spPr>
        <p:txBody>
          <a:bodyPr wrap="square">
            <a:spAutoFit/>
          </a:bodyPr>
          <a:lstStyle/>
          <a:p>
            <a:pPr algn="l"/>
            <a:r>
              <a:rPr sz="1050" b="0">
                <a:solidFill>
                  <a:srgbClr val="8B949E"/>
                </a:solidFill>
                <a:latin typeface="Inter"/>
              </a:rPr>
              <a:t>JWKS-rotated keypairs from AuthService. Only authenticated, identity-bound users can invoke agents. Zero hardcoded secrets.</a:t>
            </a:r>
          </a:p>
        </p:txBody>
      </p:sp>
      <p:sp>
        <p:nvSpPr>
          <p:cNvPr id="10" name="Rectangle 9"/>
          <p:cNvSpPr/>
          <p:nvPr/>
        </p:nvSpPr>
        <p:spPr>
          <a:xfrm>
            <a:off x="457200" y="2331720"/>
            <a:ext cx="11274552" cy="8229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31720"/>
            <a:ext cx="73152" cy="8229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386584"/>
            <a:ext cx="3200400" cy="320040"/>
          </a:xfrm>
          <a:prstGeom prst="rect">
            <a:avLst/>
          </a:prstGeom>
          <a:noFill/>
        </p:spPr>
        <p:txBody>
          <a:bodyPr wrap="square">
            <a:spAutoFit/>
          </a:bodyPr>
          <a:lstStyle/>
          <a:p>
            <a:pPr algn="l"/>
            <a:r>
              <a:rPr sz="1100" b="1">
                <a:solidFill>
                  <a:srgbClr val="38BDF8"/>
                </a:solidFill>
                <a:latin typeface="Inter"/>
              </a:rPr>
              <a:t>Session Identity Binding</a:t>
            </a:r>
          </a:p>
        </p:txBody>
      </p:sp>
      <p:sp>
        <p:nvSpPr>
          <p:cNvPr id="13" name="TextBox 12"/>
          <p:cNvSpPr txBox="1"/>
          <p:nvPr/>
        </p:nvSpPr>
        <p:spPr>
          <a:xfrm>
            <a:off x="3931920" y="2386584"/>
            <a:ext cx="7589520" cy="685800"/>
          </a:xfrm>
          <a:prstGeom prst="rect">
            <a:avLst/>
          </a:prstGeom>
          <a:noFill/>
        </p:spPr>
        <p:txBody>
          <a:bodyPr wrap="square">
            <a:spAutoFit/>
          </a:bodyPr>
          <a:lstStyle/>
          <a:p>
            <a:pPr algn="l"/>
            <a:r>
              <a:rPr sz="1050" b="0">
                <a:solidFill>
                  <a:srgbClr val="8B949E"/>
                </a:solidFill>
                <a:latin typeface="Inter"/>
              </a:rPr>
              <a:t>Every thread is locked to the originating user's JWT sub. No session hijacking. Resuming a thread as a different user returns 403.</a:t>
            </a:r>
          </a:p>
        </p:txBody>
      </p:sp>
      <p:sp>
        <p:nvSpPr>
          <p:cNvPr id="14" name="Rectangle 13"/>
          <p:cNvSpPr/>
          <p:nvPr/>
        </p:nvSpPr>
        <p:spPr>
          <a:xfrm>
            <a:off x="457200" y="3246120"/>
            <a:ext cx="11274552" cy="8229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246120"/>
            <a:ext cx="73152" cy="822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300984"/>
            <a:ext cx="3200400" cy="320040"/>
          </a:xfrm>
          <a:prstGeom prst="rect">
            <a:avLst/>
          </a:prstGeom>
          <a:noFill/>
        </p:spPr>
        <p:txBody>
          <a:bodyPr wrap="square">
            <a:spAutoFit/>
          </a:bodyPr>
          <a:lstStyle/>
          <a:p>
            <a:pPr algn="l"/>
            <a:r>
              <a:rPr sz="1100" b="1">
                <a:solidFill>
                  <a:srgbClr val="F59E0B"/>
                </a:solidFill>
                <a:latin typeface="Inter"/>
              </a:rPr>
              <a:t>Real-Time Context Budget</a:t>
            </a:r>
          </a:p>
        </p:txBody>
      </p:sp>
      <p:sp>
        <p:nvSpPr>
          <p:cNvPr id="17" name="TextBox 16"/>
          <p:cNvSpPr txBox="1"/>
          <p:nvPr/>
        </p:nvSpPr>
        <p:spPr>
          <a:xfrm>
            <a:off x="3931920" y="3300984"/>
            <a:ext cx="7589520" cy="685800"/>
          </a:xfrm>
          <a:prstGeom prst="rect">
            <a:avLst/>
          </a:prstGeom>
          <a:noFill/>
        </p:spPr>
        <p:txBody>
          <a:bodyPr wrap="square">
            <a:spAutoFit/>
          </a:bodyPr>
          <a:lstStyle/>
          <a:p>
            <a:pPr algn="l"/>
            <a:r>
              <a:rPr sz="1050" b="0">
                <a:solidFill>
                  <a:srgbClr val="8B949E"/>
                </a:solidFill>
                <a:latin typeface="Inter"/>
              </a:rPr>
              <a:t>Token counting per session. Configurable warning threshold (70%) and compaction threshold (80%). Surfaced live to the UI.</a:t>
            </a:r>
          </a:p>
        </p:txBody>
      </p:sp>
      <p:sp>
        <p:nvSpPr>
          <p:cNvPr id="18" name="Rectangle 17"/>
          <p:cNvSpPr/>
          <p:nvPr/>
        </p:nvSpPr>
        <p:spPr>
          <a:xfrm>
            <a:off x="457200" y="4160520"/>
            <a:ext cx="11274552" cy="8229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160520"/>
            <a:ext cx="73152" cy="8229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3"/>
            <a:ext cx="3200400" cy="320040"/>
          </a:xfrm>
          <a:prstGeom prst="rect">
            <a:avLst/>
          </a:prstGeom>
          <a:noFill/>
        </p:spPr>
        <p:txBody>
          <a:bodyPr wrap="square">
            <a:spAutoFit/>
          </a:bodyPr>
          <a:lstStyle/>
          <a:p>
            <a:pPr algn="l"/>
            <a:r>
              <a:rPr sz="1100" b="1">
                <a:solidFill>
                  <a:srgbClr val="22C55E"/>
                </a:solidFill>
                <a:latin typeface="Inter"/>
              </a:rPr>
              <a:t>Sliding-Window Compaction</a:t>
            </a:r>
          </a:p>
        </p:txBody>
      </p:sp>
      <p:sp>
        <p:nvSpPr>
          <p:cNvPr id="21" name="TextBox 20"/>
          <p:cNvSpPr txBox="1"/>
          <p:nvPr/>
        </p:nvSpPr>
        <p:spPr>
          <a:xfrm>
            <a:off x="3931920" y="4215383"/>
            <a:ext cx="7589520" cy="685800"/>
          </a:xfrm>
          <a:prstGeom prst="rect">
            <a:avLst/>
          </a:prstGeom>
          <a:noFill/>
        </p:spPr>
        <p:txBody>
          <a:bodyPr wrap="square">
            <a:spAutoFit/>
          </a:bodyPr>
          <a:lstStyle/>
          <a:p>
            <a:pPr algn="l"/>
            <a:r>
              <a:rPr sz="1050" b="0">
                <a:solidFill>
                  <a:srgbClr val="8B949E"/>
                </a:solidFill>
                <a:latin typeface="Inter"/>
              </a:rPr>
              <a:t>When context fills: evict 30% oldest messages → LLM summarises → entity fidelity check → proceed. User sees it happen.</a:t>
            </a:r>
          </a:p>
        </p:txBody>
      </p:sp>
      <p:sp>
        <p:nvSpPr>
          <p:cNvPr id="22" name="Rectangle 21"/>
          <p:cNvSpPr/>
          <p:nvPr/>
        </p:nvSpPr>
        <p:spPr>
          <a:xfrm>
            <a:off x="457200" y="5074920"/>
            <a:ext cx="11274552" cy="8229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074920"/>
            <a:ext cx="73152" cy="82296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129783"/>
            <a:ext cx="3200400" cy="320040"/>
          </a:xfrm>
          <a:prstGeom prst="rect">
            <a:avLst/>
          </a:prstGeom>
          <a:noFill/>
        </p:spPr>
        <p:txBody>
          <a:bodyPr wrap="square">
            <a:spAutoFit/>
          </a:bodyPr>
          <a:lstStyle/>
          <a:p>
            <a:pPr algn="l"/>
            <a:r>
              <a:rPr sz="1100" b="1">
                <a:solidFill>
                  <a:srgbClr val="FB7185"/>
                </a:solidFill>
                <a:latin typeface="Inter"/>
              </a:rPr>
              <a:t>Model Registry</a:t>
            </a:r>
          </a:p>
        </p:txBody>
      </p:sp>
      <p:sp>
        <p:nvSpPr>
          <p:cNvPr id="25" name="TextBox 24"/>
          <p:cNvSpPr txBox="1"/>
          <p:nvPr/>
        </p:nvSpPr>
        <p:spPr>
          <a:xfrm>
            <a:off x="3931920" y="5129783"/>
            <a:ext cx="7589520" cy="685800"/>
          </a:xfrm>
          <a:prstGeom prst="rect">
            <a:avLst/>
          </a:prstGeom>
          <a:noFill/>
        </p:spPr>
        <p:txBody>
          <a:bodyPr wrap="square">
            <a:spAutoFit/>
          </a:bodyPr>
          <a:lstStyle/>
          <a:p>
            <a:pPr algn="l"/>
            <a:r>
              <a:rPr sz="1050" b="0">
                <a:solidFill>
                  <a:srgbClr val="8B949E"/>
                </a:solidFill>
                <a:latin typeface="Inter"/>
              </a:rPr>
              <a:t>GET /models serves available models from config. The UI never hardcodes model names. New models ship without frontend changes.</a:t>
            </a:r>
          </a:p>
        </p:txBody>
      </p:sp>
      <p:sp>
        <p:nvSpPr>
          <p:cNvPr id="26" name="TextBox 25"/>
          <p:cNvSpPr txBox="1"/>
          <p:nvPr/>
        </p:nvSpPr>
        <p:spPr>
          <a:xfrm>
            <a:off x="457200" y="6263640"/>
            <a:ext cx="11274552" cy="411480"/>
          </a:xfrm>
          <a:prstGeom prst="rect">
            <a:avLst/>
          </a:prstGeom>
          <a:noFill/>
        </p:spPr>
        <p:txBody>
          <a:bodyPr wrap="square">
            <a:spAutoFit/>
          </a:bodyPr>
          <a:lstStyle/>
          <a:p>
            <a:pPr algn="ctr"/>
            <a:r>
              <a:rPr sz="1200" b="1">
                <a:solidFill>
                  <a:srgbClr val="E6EDF3"/>
                </a:solidFill>
                <a:latin typeface="Inter"/>
              </a:rPr>
              <a:t>This is the difference between a demo and infrastructure a Fortune 500 CISO will sign off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8229600" cy="548640"/>
          </a:xfrm>
          <a:prstGeom prst="rect">
            <a:avLst/>
          </a:prstGeom>
          <a:noFill/>
        </p:spPr>
        <p:txBody>
          <a:bodyPr wrap="square">
            <a:spAutoFit/>
          </a:bodyPr>
          <a:lstStyle/>
          <a:p>
            <a:pPr algn="l"/>
            <a:r>
              <a:rPr sz="2800" b="1">
                <a:solidFill>
                  <a:srgbClr val="E6EDF3"/>
                </a:solidFill>
                <a:latin typeface="Inter"/>
              </a:rPr>
              <a:t>Plan Memory + Few-Shot Learning</a:t>
            </a:r>
          </a:p>
        </p:txBody>
      </p:sp>
      <p:sp>
        <p:nvSpPr>
          <p:cNvPr id="4" name="TextBox 3"/>
          <p:cNvSpPr txBox="1"/>
          <p:nvPr/>
        </p:nvSpPr>
        <p:spPr>
          <a:xfrm>
            <a:off x="658368" y="868680"/>
            <a:ext cx="8229600" cy="411480"/>
          </a:xfrm>
          <a:prstGeom prst="rect">
            <a:avLst/>
          </a:prstGeom>
          <a:noFill/>
        </p:spPr>
        <p:txBody>
          <a:bodyPr wrap="square">
            <a:spAutoFit/>
          </a:bodyPr>
          <a:lstStyle/>
          <a:p>
            <a:pPr algn="l"/>
            <a:r>
              <a:rPr sz="1500" b="0">
                <a:solidFill>
                  <a:srgbClr val="A78BFA"/>
                </a:solidFill>
                <a:latin typeface="Inter"/>
              </a:rPr>
              <a:t>The agent that gets smarter with every incident</a:t>
            </a:r>
          </a:p>
        </p:txBody>
      </p:sp>
      <p:sp>
        <p:nvSpPr>
          <p:cNvPr id="5" name="TextBox 4"/>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05</a:t>
            </a:r>
          </a:p>
        </p:txBody>
      </p:sp>
      <p:sp>
        <p:nvSpPr>
          <p:cNvPr id="6" name="Rectangle 5"/>
          <p:cNvSpPr/>
          <p:nvPr/>
        </p:nvSpPr>
        <p:spPr>
          <a:xfrm>
            <a:off x="457200" y="1417320"/>
            <a:ext cx="5486400" cy="3931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508760"/>
            <a:ext cx="5120640" cy="411480"/>
          </a:xfrm>
          <a:prstGeom prst="rect">
            <a:avLst/>
          </a:prstGeom>
          <a:noFill/>
        </p:spPr>
        <p:txBody>
          <a:bodyPr wrap="square">
            <a:spAutoFit/>
          </a:bodyPr>
          <a:lstStyle/>
          <a:p>
            <a:pPr algn="l"/>
            <a:r>
              <a:rPr sz="1300" b="1">
                <a:solidFill>
                  <a:srgbClr val="A78BFA"/>
                </a:solidFill>
                <a:latin typeface="Inter"/>
              </a:rPr>
              <a:t>How It Works</a:t>
            </a:r>
          </a:p>
        </p:txBody>
      </p:sp>
      <p:sp>
        <p:nvSpPr>
          <p:cNvPr id="8" name="Rectangle 7"/>
          <p:cNvSpPr/>
          <p:nvPr/>
        </p:nvSpPr>
        <p:spPr>
          <a:xfrm>
            <a:off x="594360" y="1965960"/>
            <a:ext cx="347472"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84248"/>
            <a:ext cx="347472" cy="320040"/>
          </a:xfrm>
          <a:prstGeom prst="rect">
            <a:avLst/>
          </a:prstGeom>
          <a:noFill/>
        </p:spPr>
        <p:txBody>
          <a:bodyPr wrap="square">
            <a:spAutoFit/>
          </a:bodyPr>
          <a:lstStyle/>
          <a:p>
            <a:pPr algn="ctr"/>
            <a:r>
              <a:rPr sz="1100" b="1">
                <a:solidFill>
                  <a:srgbClr val="E6EDF3"/>
                </a:solidFill>
                <a:latin typeface="Inter"/>
              </a:rPr>
              <a:t>1</a:t>
            </a:r>
          </a:p>
        </p:txBody>
      </p:sp>
      <p:sp>
        <p:nvSpPr>
          <p:cNvPr id="10" name="TextBox 9"/>
          <p:cNvSpPr txBox="1"/>
          <p:nvPr/>
        </p:nvSpPr>
        <p:spPr>
          <a:xfrm>
            <a:off x="1051560" y="2002536"/>
            <a:ext cx="4709160" cy="292608"/>
          </a:xfrm>
          <a:prstGeom prst="rect">
            <a:avLst/>
          </a:prstGeom>
          <a:noFill/>
        </p:spPr>
        <p:txBody>
          <a:bodyPr wrap="square">
            <a:spAutoFit/>
          </a:bodyPr>
          <a:lstStyle/>
          <a:p>
            <a:pPr algn="l"/>
            <a:r>
              <a:rPr sz="1050" b="0">
                <a:solidFill>
                  <a:srgbClr val="8B949E"/>
                </a:solidFill>
                <a:latin typeface="Inter"/>
              </a:rPr>
              <a:t>SRE resolves a K8s crashloop — 9 steps, 287 seconds</a:t>
            </a:r>
          </a:p>
        </p:txBody>
      </p:sp>
      <p:sp>
        <p:nvSpPr>
          <p:cNvPr id="11" name="Rectangle 10"/>
          <p:cNvSpPr/>
          <p:nvPr/>
        </p:nvSpPr>
        <p:spPr>
          <a:xfrm>
            <a:off x="594360" y="2441448"/>
            <a:ext cx="347472"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59736"/>
            <a:ext cx="347472" cy="320040"/>
          </a:xfrm>
          <a:prstGeom prst="rect">
            <a:avLst/>
          </a:prstGeom>
          <a:noFill/>
        </p:spPr>
        <p:txBody>
          <a:bodyPr wrap="square">
            <a:spAutoFit/>
          </a:bodyPr>
          <a:lstStyle/>
          <a:p>
            <a:pPr algn="ctr"/>
            <a:r>
              <a:rPr sz="1100" b="1">
                <a:solidFill>
                  <a:srgbClr val="E6EDF3"/>
                </a:solidFill>
                <a:latin typeface="Inter"/>
              </a:rPr>
              <a:t>2</a:t>
            </a:r>
          </a:p>
        </p:txBody>
      </p:sp>
      <p:sp>
        <p:nvSpPr>
          <p:cNvPr id="13" name="TextBox 12"/>
          <p:cNvSpPr txBox="1"/>
          <p:nvPr/>
        </p:nvSpPr>
        <p:spPr>
          <a:xfrm>
            <a:off x="1051560" y="2478024"/>
            <a:ext cx="4709160" cy="292608"/>
          </a:xfrm>
          <a:prstGeom prst="rect">
            <a:avLst/>
          </a:prstGeom>
          <a:noFill/>
        </p:spPr>
        <p:txBody>
          <a:bodyPr wrap="square">
            <a:spAutoFit/>
          </a:bodyPr>
          <a:lstStyle/>
          <a:p>
            <a:pPr algn="l"/>
            <a:r>
              <a:rPr sz="1050" b="0">
                <a:solidFill>
                  <a:srgbClr val="8B949E"/>
                </a:solidFill>
                <a:latin typeface="Inter"/>
              </a:rPr>
              <a:t>Resolution stored: action, domain, steps, duration, outcome</a:t>
            </a:r>
          </a:p>
        </p:txBody>
      </p:sp>
      <p:sp>
        <p:nvSpPr>
          <p:cNvPr id="14" name="Rectangle 13"/>
          <p:cNvSpPr/>
          <p:nvPr/>
        </p:nvSpPr>
        <p:spPr>
          <a:xfrm>
            <a:off x="594360" y="2916936"/>
            <a:ext cx="347472"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35224"/>
            <a:ext cx="347472" cy="320040"/>
          </a:xfrm>
          <a:prstGeom prst="rect">
            <a:avLst/>
          </a:prstGeom>
          <a:noFill/>
        </p:spPr>
        <p:txBody>
          <a:bodyPr wrap="square">
            <a:spAutoFit/>
          </a:bodyPr>
          <a:lstStyle/>
          <a:p>
            <a:pPr algn="ctr"/>
            <a:r>
              <a:rPr sz="1100" b="1">
                <a:solidFill>
                  <a:srgbClr val="E6EDF3"/>
                </a:solidFill>
                <a:latin typeface="Inter"/>
              </a:rPr>
              <a:t>3</a:t>
            </a:r>
          </a:p>
        </p:txBody>
      </p:sp>
      <p:sp>
        <p:nvSpPr>
          <p:cNvPr id="16" name="TextBox 15"/>
          <p:cNvSpPr txBox="1"/>
          <p:nvPr/>
        </p:nvSpPr>
        <p:spPr>
          <a:xfrm>
            <a:off x="1051560" y="2953512"/>
            <a:ext cx="4709160" cy="292608"/>
          </a:xfrm>
          <a:prstGeom prst="rect">
            <a:avLst/>
          </a:prstGeom>
          <a:noFill/>
        </p:spPr>
        <p:txBody>
          <a:bodyPr wrap="square">
            <a:spAutoFit/>
          </a:bodyPr>
          <a:lstStyle/>
          <a:p>
            <a:pPr algn="l"/>
            <a:r>
              <a:rPr sz="1050" b="0">
                <a:solidFill>
                  <a:srgbClr val="8B949E"/>
                </a:solidFill>
                <a:latin typeface="Inter"/>
              </a:rPr>
              <a:t>Next K8s incident → agent searches Plan History</a:t>
            </a:r>
          </a:p>
        </p:txBody>
      </p:sp>
      <p:sp>
        <p:nvSpPr>
          <p:cNvPr id="17" name="Rectangle 16"/>
          <p:cNvSpPr/>
          <p:nvPr/>
        </p:nvSpPr>
        <p:spPr>
          <a:xfrm>
            <a:off x="594360" y="3392424"/>
            <a:ext cx="347472"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10712"/>
            <a:ext cx="347472" cy="320040"/>
          </a:xfrm>
          <a:prstGeom prst="rect">
            <a:avLst/>
          </a:prstGeom>
          <a:noFill/>
        </p:spPr>
        <p:txBody>
          <a:bodyPr wrap="square">
            <a:spAutoFit/>
          </a:bodyPr>
          <a:lstStyle/>
          <a:p>
            <a:pPr algn="ctr"/>
            <a:r>
              <a:rPr sz="1100" b="1">
                <a:solidFill>
                  <a:srgbClr val="E6EDF3"/>
                </a:solidFill>
                <a:latin typeface="Inter"/>
              </a:rPr>
              <a:t>4</a:t>
            </a:r>
          </a:p>
        </p:txBody>
      </p:sp>
      <p:sp>
        <p:nvSpPr>
          <p:cNvPr id="19" name="TextBox 18"/>
          <p:cNvSpPr txBox="1"/>
          <p:nvPr/>
        </p:nvSpPr>
        <p:spPr>
          <a:xfrm>
            <a:off x="1051560" y="3429000"/>
            <a:ext cx="4709160" cy="292608"/>
          </a:xfrm>
          <a:prstGeom prst="rect">
            <a:avLst/>
          </a:prstGeom>
          <a:noFill/>
        </p:spPr>
        <p:txBody>
          <a:bodyPr wrap="square">
            <a:spAutoFit/>
          </a:bodyPr>
          <a:lstStyle/>
          <a:p>
            <a:pPr algn="l"/>
            <a:r>
              <a:rPr sz="1050" b="0">
                <a:solidFill>
                  <a:srgbClr val="8B949E"/>
                </a:solidFill>
                <a:latin typeface="Inter"/>
              </a:rPr>
              <a:t>Match found → inject as few-shot example into plan prompt</a:t>
            </a:r>
          </a:p>
        </p:txBody>
      </p:sp>
      <p:sp>
        <p:nvSpPr>
          <p:cNvPr id="20" name="Rectangle 19"/>
          <p:cNvSpPr/>
          <p:nvPr/>
        </p:nvSpPr>
        <p:spPr>
          <a:xfrm>
            <a:off x="594360" y="3867912"/>
            <a:ext cx="347472"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886200"/>
            <a:ext cx="347472" cy="320040"/>
          </a:xfrm>
          <a:prstGeom prst="rect">
            <a:avLst/>
          </a:prstGeom>
          <a:noFill/>
        </p:spPr>
        <p:txBody>
          <a:bodyPr wrap="square">
            <a:spAutoFit/>
          </a:bodyPr>
          <a:lstStyle/>
          <a:p>
            <a:pPr algn="ctr"/>
            <a:r>
              <a:rPr sz="1100" b="1">
                <a:solidFill>
                  <a:srgbClr val="E6EDF3"/>
                </a:solidFill>
                <a:latin typeface="Inter"/>
              </a:rPr>
              <a:t>5</a:t>
            </a:r>
          </a:p>
        </p:txBody>
      </p:sp>
      <p:sp>
        <p:nvSpPr>
          <p:cNvPr id="22" name="TextBox 21"/>
          <p:cNvSpPr txBox="1"/>
          <p:nvPr/>
        </p:nvSpPr>
        <p:spPr>
          <a:xfrm>
            <a:off x="1051560" y="3904488"/>
            <a:ext cx="4709160" cy="292608"/>
          </a:xfrm>
          <a:prstGeom prst="rect">
            <a:avLst/>
          </a:prstGeom>
          <a:noFill/>
        </p:spPr>
        <p:txBody>
          <a:bodyPr wrap="square">
            <a:spAutoFit/>
          </a:bodyPr>
          <a:lstStyle/>
          <a:p>
            <a:pPr algn="l"/>
            <a:r>
              <a:rPr sz="1050" b="0">
                <a:solidFill>
                  <a:srgbClr val="8B949E"/>
                </a:solidFill>
                <a:latin typeface="Inter"/>
              </a:rPr>
              <a:t>Agent produces plan faster, aligned to proven patterns</a:t>
            </a:r>
          </a:p>
        </p:txBody>
      </p:sp>
      <p:sp>
        <p:nvSpPr>
          <p:cNvPr id="23" name="Rectangle 22"/>
          <p:cNvSpPr/>
          <p:nvPr/>
        </p:nvSpPr>
        <p:spPr>
          <a:xfrm>
            <a:off x="594360" y="4343400"/>
            <a:ext cx="347472"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361688"/>
            <a:ext cx="347472" cy="320040"/>
          </a:xfrm>
          <a:prstGeom prst="rect">
            <a:avLst/>
          </a:prstGeom>
          <a:noFill/>
        </p:spPr>
        <p:txBody>
          <a:bodyPr wrap="square">
            <a:spAutoFit/>
          </a:bodyPr>
          <a:lstStyle/>
          <a:p>
            <a:pPr algn="ctr"/>
            <a:r>
              <a:rPr sz="1100" b="1">
                <a:solidFill>
                  <a:srgbClr val="E6EDF3"/>
                </a:solidFill>
                <a:latin typeface="Inter"/>
              </a:rPr>
              <a:t>6</a:t>
            </a:r>
          </a:p>
        </p:txBody>
      </p:sp>
      <p:sp>
        <p:nvSpPr>
          <p:cNvPr id="25" name="TextBox 24"/>
          <p:cNvSpPr txBox="1"/>
          <p:nvPr/>
        </p:nvSpPr>
        <p:spPr>
          <a:xfrm>
            <a:off x="1051560" y="4379976"/>
            <a:ext cx="4709160" cy="292608"/>
          </a:xfrm>
          <a:prstGeom prst="rect">
            <a:avLst/>
          </a:prstGeom>
          <a:noFill/>
        </p:spPr>
        <p:txBody>
          <a:bodyPr wrap="square">
            <a:spAutoFit/>
          </a:bodyPr>
          <a:lstStyle/>
          <a:p>
            <a:pPr algn="l"/>
            <a:r>
              <a:rPr sz="1050" b="0">
                <a:solidFill>
                  <a:srgbClr val="8B949E"/>
                </a:solidFill>
                <a:latin typeface="Inter"/>
              </a:rPr>
              <a:t>"Few-shot used by agent" badge appears in UI history panel</a:t>
            </a:r>
          </a:p>
        </p:txBody>
      </p:sp>
      <p:sp>
        <p:nvSpPr>
          <p:cNvPr id="26" name="Rectangle 25"/>
          <p:cNvSpPr/>
          <p:nvPr/>
        </p:nvSpPr>
        <p:spPr>
          <a:xfrm>
            <a:off x="6217920" y="1417320"/>
            <a:ext cx="5513832" cy="3931920"/>
          </a:xfrm>
          <a:prstGeom prst="rect">
            <a:avLst/>
          </a:prstGeom>
          <a:solidFill>
            <a:srgbClr val="1E1045"/>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1508760"/>
            <a:ext cx="5120640" cy="411480"/>
          </a:xfrm>
          <a:prstGeom prst="rect">
            <a:avLst/>
          </a:prstGeom>
          <a:noFill/>
        </p:spPr>
        <p:txBody>
          <a:bodyPr wrap="square">
            <a:spAutoFit/>
          </a:bodyPr>
          <a:lstStyle/>
          <a:p>
            <a:pPr algn="l"/>
            <a:r>
              <a:rPr sz="1300" b="1">
                <a:solidFill>
                  <a:srgbClr val="A78BFA"/>
                </a:solidFill>
                <a:latin typeface="Inter"/>
              </a:rPr>
              <a:t>The Compounding Moat</a:t>
            </a:r>
          </a:p>
        </p:txBody>
      </p:sp>
      <p:sp>
        <p:nvSpPr>
          <p:cNvPr id="28" name="TextBox 27"/>
          <p:cNvSpPr txBox="1"/>
          <p:nvPr/>
        </p:nvSpPr>
        <p:spPr>
          <a:xfrm>
            <a:off x="6400800" y="2011680"/>
            <a:ext cx="5120640" cy="411480"/>
          </a:xfrm>
          <a:prstGeom prst="rect">
            <a:avLst/>
          </a:prstGeom>
          <a:noFill/>
        </p:spPr>
        <p:txBody>
          <a:bodyPr wrap="square">
            <a:spAutoFit/>
          </a:bodyPr>
          <a:lstStyle/>
          <a:p>
            <a:pPr algn="l"/>
            <a:r>
              <a:rPr sz="1100" b="0">
                <a:solidFill>
                  <a:srgbClr val="8B949E"/>
                </a:solidFill>
                <a:latin typeface="Inter"/>
              </a:rPr>
              <a:t>Year 1: agent learns your K8s patterns</a:t>
            </a:r>
          </a:p>
        </p:txBody>
      </p:sp>
      <p:sp>
        <p:nvSpPr>
          <p:cNvPr id="29" name="TextBox 28"/>
          <p:cNvSpPr txBox="1"/>
          <p:nvPr/>
        </p:nvSpPr>
        <p:spPr>
          <a:xfrm>
            <a:off x="6400800" y="2468880"/>
            <a:ext cx="5120640" cy="411480"/>
          </a:xfrm>
          <a:prstGeom prst="rect">
            <a:avLst/>
          </a:prstGeom>
          <a:noFill/>
        </p:spPr>
        <p:txBody>
          <a:bodyPr wrap="square">
            <a:spAutoFit/>
          </a:bodyPr>
          <a:lstStyle/>
          <a:p>
            <a:pPr algn="l"/>
            <a:r>
              <a:rPr sz="1100" b="0">
                <a:solidFill>
                  <a:srgbClr val="8B949E"/>
                </a:solidFill>
                <a:latin typeface="Inter"/>
              </a:rPr>
              <a:t>Year 2: 500+ incidents encoded → 40% faster resolution</a:t>
            </a:r>
          </a:p>
        </p:txBody>
      </p:sp>
      <p:sp>
        <p:nvSpPr>
          <p:cNvPr id="30" name="TextBox 29"/>
          <p:cNvSpPr txBox="1"/>
          <p:nvPr/>
        </p:nvSpPr>
        <p:spPr>
          <a:xfrm>
            <a:off x="6400800" y="2926080"/>
            <a:ext cx="5120640" cy="411480"/>
          </a:xfrm>
          <a:prstGeom prst="rect">
            <a:avLst/>
          </a:prstGeom>
          <a:noFill/>
        </p:spPr>
        <p:txBody>
          <a:bodyPr wrap="square">
            <a:spAutoFit/>
          </a:bodyPr>
          <a:lstStyle/>
          <a:p>
            <a:pPr algn="l"/>
            <a:r>
              <a:rPr sz="1100" b="0">
                <a:solidFill>
                  <a:srgbClr val="8B949E"/>
                </a:solidFill>
                <a:latin typeface="Inter"/>
              </a:rPr>
              <a:t>Year 3: new engineer joins → inherits all institutional knowledge</a:t>
            </a:r>
          </a:p>
        </p:txBody>
      </p:sp>
      <p:sp>
        <p:nvSpPr>
          <p:cNvPr id="31" name="TextBox 30"/>
          <p:cNvSpPr txBox="1"/>
          <p:nvPr/>
        </p:nvSpPr>
        <p:spPr>
          <a:xfrm>
            <a:off x="6400800" y="3383280"/>
            <a:ext cx="5120640" cy="411480"/>
          </a:xfrm>
          <a:prstGeom prst="rect">
            <a:avLst/>
          </a:prstGeom>
          <a:noFill/>
        </p:spPr>
        <p:txBody>
          <a:bodyPr wrap="square">
            <a:spAutoFit/>
          </a:bodyPr>
          <a:lstStyle/>
          <a:p>
            <a:pPr algn="l"/>
            <a:r>
              <a:rPr sz="1100" b="0">
                <a:solidFill>
                  <a:srgbClr val="8B949E"/>
                </a:solidFill>
                <a:latin typeface="Inter"/>
              </a:rPr>
              <a:t/>
            </a:r>
          </a:p>
        </p:txBody>
      </p:sp>
      <p:sp>
        <p:nvSpPr>
          <p:cNvPr id="32" name="TextBox 31"/>
          <p:cNvSpPr txBox="1"/>
          <p:nvPr/>
        </p:nvSpPr>
        <p:spPr>
          <a:xfrm>
            <a:off x="6400800" y="3840480"/>
            <a:ext cx="5120640" cy="411480"/>
          </a:xfrm>
          <a:prstGeom prst="rect">
            <a:avLst/>
          </a:prstGeom>
          <a:noFill/>
        </p:spPr>
        <p:txBody>
          <a:bodyPr wrap="square">
            <a:spAutoFit/>
          </a:bodyPr>
          <a:lstStyle/>
          <a:p>
            <a:pPr algn="l"/>
            <a:r>
              <a:rPr sz="1100" b="1">
                <a:solidFill>
                  <a:srgbClr val="A78BFA"/>
                </a:solidFill>
                <a:latin typeface="Inter"/>
              </a:rPr>
              <a:t>Competitors starting fresh have NONE of this history.</a:t>
            </a:r>
          </a:p>
        </p:txBody>
      </p:sp>
      <p:sp>
        <p:nvSpPr>
          <p:cNvPr id="33" name="TextBox 32"/>
          <p:cNvSpPr txBox="1"/>
          <p:nvPr/>
        </p:nvSpPr>
        <p:spPr>
          <a:xfrm>
            <a:off x="6400800" y="4297680"/>
            <a:ext cx="5120640" cy="411480"/>
          </a:xfrm>
          <a:prstGeom prst="rect">
            <a:avLst/>
          </a:prstGeom>
          <a:noFill/>
        </p:spPr>
        <p:txBody>
          <a:bodyPr wrap="square">
            <a:spAutoFit/>
          </a:bodyPr>
          <a:lstStyle/>
          <a:p>
            <a:pPr algn="l"/>
            <a:r>
              <a:rPr sz="1100" b="1">
                <a:solidFill>
                  <a:srgbClr val="A78BFA"/>
                </a:solidFill>
                <a:latin typeface="Inter"/>
              </a:rPr>
              <a:t>Switching cost grows with every incident resolved.</a:t>
            </a:r>
          </a:p>
        </p:txBody>
      </p:sp>
      <p:sp>
        <p:nvSpPr>
          <p:cNvPr id="34" name="Rectangle 33"/>
          <p:cNvSpPr/>
          <p:nvPr/>
        </p:nvSpPr>
        <p:spPr>
          <a:xfrm>
            <a:off x="457200" y="5532120"/>
            <a:ext cx="11274552" cy="896112"/>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669280"/>
            <a:ext cx="10881360" cy="594360"/>
          </a:xfrm>
          <a:prstGeom prst="rect">
            <a:avLst/>
          </a:prstGeom>
          <a:noFill/>
        </p:spPr>
        <p:txBody>
          <a:bodyPr wrap="square">
            <a:spAutoFit/>
          </a:bodyPr>
          <a:lstStyle/>
          <a:p>
            <a:pPr algn="ctr"/>
            <a:r>
              <a:rPr sz="1400" b="1">
                <a:solidFill>
                  <a:srgbClr val="E6EDF3"/>
                </a:solidFill>
                <a:latin typeface="Inter"/>
              </a:rPr>
              <a:t>No retraining. No manual curation. The agent improves automatically — just by running.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HITL + RegistryService</a:t>
            </a:r>
          </a:p>
        </p:txBody>
      </p:sp>
      <p:sp>
        <p:nvSpPr>
          <p:cNvPr id="4" name="TextBox 3"/>
          <p:cNvSpPr txBox="1"/>
          <p:nvPr/>
        </p:nvSpPr>
        <p:spPr>
          <a:xfrm>
            <a:off x="658368" y="868680"/>
            <a:ext cx="8229600" cy="411480"/>
          </a:xfrm>
          <a:prstGeom prst="rect">
            <a:avLst/>
          </a:prstGeom>
          <a:noFill/>
        </p:spPr>
        <p:txBody>
          <a:bodyPr wrap="square">
            <a:spAutoFit/>
          </a:bodyPr>
          <a:lstStyle/>
          <a:p>
            <a:pPr algn="l"/>
            <a:r>
              <a:rPr sz="1400" b="0">
                <a:solidFill>
                  <a:srgbClr val="F59E0B"/>
                </a:solidFill>
                <a:latin typeface="Inter"/>
              </a:rPr>
              <a:t>Hard gates + grounded reasoning = enterprise trust</a:t>
            </a:r>
          </a:p>
        </p:txBody>
      </p:sp>
      <p:sp>
        <p:nvSpPr>
          <p:cNvPr id="5" name="TextBox 4"/>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06</a:t>
            </a:r>
          </a:p>
        </p:txBody>
      </p:sp>
      <p:sp>
        <p:nvSpPr>
          <p:cNvPr id="6" name="Rectangle 5"/>
          <p:cNvSpPr/>
          <p:nvPr/>
        </p:nvSpPr>
        <p:spPr>
          <a:xfrm>
            <a:off x="457200" y="1371600"/>
            <a:ext cx="5303520" cy="420624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4937760" cy="411480"/>
          </a:xfrm>
          <a:prstGeom prst="rect">
            <a:avLst/>
          </a:prstGeom>
          <a:noFill/>
        </p:spPr>
        <p:txBody>
          <a:bodyPr wrap="square">
            <a:spAutoFit/>
          </a:bodyPr>
          <a:lstStyle/>
          <a:p>
            <a:pPr algn="l"/>
            <a:r>
              <a:rPr sz="1200" b="1">
                <a:solidFill>
                  <a:srgbClr val="F59E0B"/>
                </a:solidFill>
                <a:latin typeface="Inter"/>
              </a:rPr>
              <a:t>Human-in-the-Loop (Hard Gates)</a:t>
            </a:r>
          </a:p>
        </p:txBody>
      </p:sp>
      <p:sp>
        <p:nvSpPr>
          <p:cNvPr id="8" name="TextBox 7"/>
          <p:cNvSpPr txBox="1"/>
          <p:nvPr/>
        </p:nvSpPr>
        <p:spPr>
          <a:xfrm>
            <a:off x="640080" y="1938528"/>
            <a:ext cx="2560320" cy="320040"/>
          </a:xfrm>
          <a:prstGeom prst="rect">
            <a:avLst/>
          </a:prstGeom>
          <a:noFill/>
        </p:spPr>
        <p:txBody>
          <a:bodyPr wrap="square">
            <a:spAutoFit/>
          </a:bodyPr>
          <a:lstStyle/>
          <a:p>
            <a:pPr algn="l"/>
            <a:r>
              <a:rPr sz="1050" b="1">
                <a:solidFill>
                  <a:srgbClr val="F59E0B"/>
                </a:solidFill>
                <a:latin typeface="Inter"/>
              </a:rPr>
              <a:t>⬡  Plan Review Gate</a:t>
            </a:r>
          </a:p>
        </p:txBody>
      </p:sp>
      <p:sp>
        <p:nvSpPr>
          <p:cNvPr id="9" name="TextBox 8"/>
          <p:cNvSpPr txBox="1"/>
          <p:nvPr/>
        </p:nvSpPr>
        <p:spPr>
          <a:xfrm>
            <a:off x="3200400" y="1938528"/>
            <a:ext cx="2377440" cy="320040"/>
          </a:xfrm>
          <a:prstGeom prst="rect">
            <a:avLst/>
          </a:prstGeom>
          <a:noFill/>
        </p:spPr>
        <p:txBody>
          <a:bodyPr wrap="square">
            <a:spAutoFit/>
          </a:bodyPr>
          <a:lstStyle/>
          <a:p>
            <a:pPr algn="l"/>
            <a:r>
              <a:rPr sz="1050" b="0">
                <a:solidFill>
                  <a:srgbClr val="8B949E"/>
                </a:solidFill>
                <a:latin typeface="Inter"/>
              </a:rPr>
              <a:t>SRE sees full DAG before any execution</a:t>
            </a:r>
          </a:p>
        </p:txBody>
      </p:sp>
      <p:sp>
        <p:nvSpPr>
          <p:cNvPr id="10" name="TextBox 9"/>
          <p:cNvSpPr txBox="1"/>
          <p:nvPr/>
        </p:nvSpPr>
        <p:spPr>
          <a:xfrm>
            <a:off x="640080" y="2468880"/>
            <a:ext cx="2560320" cy="320040"/>
          </a:xfrm>
          <a:prstGeom prst="rect">
            <a:avLst/>
          </a:prstGeom>
          <a:noFill/>
        </p:spPr>
        <p:txBody>
          <a:bodyPr wrap="square">
            <a:spAutoFit/>
          </a:bodyPr>
          <a:lstStyle/>
          <a:p>
            <a:pPr algn="l"/>
            <a:r>
              <a:rPr sz="1050" b="1">
                <a:solidFill>
                  <a:srgbClr val="F59E0B"/>
                </a:solidFill>
                <a:latin typeface="Inter"/>
              </a:rPr>
              <a:t>⬡  CoT Confirm Gate</a:t>
            </a:r>
          </a:p>
        </p:txBody>
      </p:sp>
      <p:sp>
        <p:nvSpPr>
          <p:cNvPr id="11" name="TextBox 10"/>
          <p:cNvSpPr txBox="1"/>
          <p:nvPr/>
        </p:nvSpPr>
        <p:spPr>
          <a:xfrm>
            <a:off x="3200400" y="2468880"/>
            <a:ext cx="2377440" cy="320040"/>
          </a:xfrm>
          <a:prstGeom prst="rect">
            <a:avLst/>
          </a:prstGeom>
          <a:noFill/>
        </p:spPr>
        <p:txBody>
          <a:bodyPr wrap="square">
            <a:spAutoFit/>
          </a:bodyPr>
          <a:lstStyle/>
          <a:p>
            <a:pPr algn="l"/>
            <a:r>
              <a:rPr sz="1050" b="0">
                <a:solidFill>
                  <a:srgbClr val="8B949E"/>
                </a:solidFill>
                <a:latin typeface="Inter"/>
              </a:rPr>
              <a:t>Claude Opus walks the reasoning aloud</a:t>
            </a:r>
          </a:p>
        </p:txBody>
      </p:sp>
      <p:sp>
        <p:nvSpPr>
          <p:cNvPr id="12" name="TextBox 11"/>
          <p:cNvSpPr txBox="1"/>
          <p:nvPr/>
        </p:nvSpPr>
        <p:spPr>
          <a:xfrm>
            <a:off x="640080" y="2999232"/>
            <a:ext cx="2560320" cy="320040"/>
          </a:xfrm>
          <a:prstGeom prst="rect">
            <a:avLst/>
          </a:prstGeom>
          <a:noFill/>
        </p:spPr>
        <p:txBody>
          <a:bodyPr wrap="square">
            <a:spAutoFit/>
          </a:bodyPr>
          <a:lstStyle/>
          <a:p>
            <a:pPr algn="l"/>
            <a:r>
              <a:rPr sz="1050" b="1">
                <a:solidFill>
                  <a:srgbClr val="F59E0B"/>
                </a:solidFill>
                <a:latin typeface="Inter"/>
              </a:rPr>
              <a:t>⬡  Modify → Re-plan</a:t>
            </a:r>
          </a:p>
        </p:txBody>
      </p:sp>
      <p:sp>
        <p:nvSpPr>
          <p:cNvPr id="13" name="TextBox 12"/>
          <p:cNvSpPr txBox="1"/>
          <p:nvPr/>
        </p:nvSpPr>
        <p:spPr>
          <a:xfrm>
            <a:off x="3200400" y="2999232"/>
            <a:ext cx="2377440" cy="320040"/>
          </a:xfrm>
          <a:prstGeom prst="rect">
            <a:avLst/>
          </a:prstGeom>
          <a:noFill/>
        </p:spPr>
        <p:txBody>
          <a:bodyPr wrap="square">
            <a:spAutoFit/>
          </a:bodyPr>
          <a:lstStyle/>
          <a:p>
            <a:pPr algn="l"/>
            <a:r>
              <a:rPr sz="1050" b="0">
                <a:solidFill>
                  <a:srgbClr val="8B949E"/>
                </a:solidFill>
                <a:latin typeface="Inter"/>
              </a:rPr>
              <a:t>Feedback routes back to planner, not skipped</a:t>
            </a:r>
          </a:p>
        </p:txBody>
      </p:sp>
      <p:sp>
        <p:nvSpPr>
          <p:cNvPr id="14" name="TextBox 13"/>
          <p:cNvSpPr txBox="1"/>
          <p:nvPr/>
        </p:nvSpPr>
        <p:spPr>
          <a:xfrm>
            <a:off x="640080" y="3529584"/>
            <a:ext cx="2560320" cy="320040"/>
          </a:xfrm>
          <a:prstGeom prst="rect">
            <a:avLst/>
          </a:prstGeom>
          <a:noFill/>
        </p:spPr>
        <p:txBody>
          <a:bodyPr wrap="square">
            <a:spAutoFit/>
          </a:bodyPr>
          <a:lstStyle/>
          <a:p>
            <a:pPr algn="l"/>
            <a:r>
              <a:rPr sz="1050" b="1">
                <a:solidFill>
                  <a:srgbClr val="F59E0B"/>
                </a:solidFill>
                <a:latin typeface="Inter"/>
              </a:rPr>
              <a:t>⬡  Audit Trail</a:t>
            </a:r>
          </a:p>
        </p:txBody>
      </p:sp>
      <p:sp>
        <p:nvSpPr>
          <p:cNvPr id="15" name="TextBox 14"/>
          <p:cNvSpPr txBox="1"/>
          <p:nvPr/>
        </p:nvSpPr>
        <p:spPr>
          <a:xfrm>
            <a:off x="3200400" y="3529584"/>
            <a:ext cx="2377440" cy="320040"/>
          </a:xfrm>
          <a:prstGeom prst="rect">
            <a:avLst/>
          </a:prstGeom>
          <a:noFill/>
        </p:spPr>
        <p:txBody>
          <a:bodyPr wrap="square">
            <a:spAutoFit/>
          </a:bodyPr>
          <a:lstStyle/>
          <a:p>
            <a:pPr algn="l"/>
            <a:r>
              <a:rPr sz="1050" b="0">
                <a:solidFill>
                  <a:srgbClr val="8B949E"/>
                </a:solidFill>
                <a:latin typeface="Inter"/>
              </a:rPr>
              <a:t>Every approval: user identity + timestamp logged</a:t>
            </a:r>
          </a:p>
        </p:txBody>
      </p:sp>
      <p:sp>
        <p:nvSpPr>
          <p:cNvPr id="16" name="TextBox 15"/>
          <p:cNvSpPr txBox="1"/>
          <p:nvPr/>
        </p:nvSpPr>
        <p:spPr>
          <a:xfrm>
            <a:off x="640080" y="4059936"/>
            <a:ext cx="2560320" cy="320040"/>
          </a:xfrm>
          <a:prstGeom prst="rect">
            <a:avLst/>
          </a:prstGeom>
          <a:noFill/>
        </p:spPr>
        <p:txBody>
          <a:bodyPr wrap="square">
            <a:spAutoFit/>
          </a:bodyPr>
          <a:lstStyle/>
          <a:p>
            <a:pPr algn="l"/>
            <a:r>
              <a:rPr sz="1050" b="1">
                <a:solidFill>
                  <a:srgbClr val="F59E0B"/>
                </a:solidFill>
                <a:latin typeface="Inter"/>
              </a:rPr>
              <a:t>⬡  Compliance Ready</a:t>
            </a:r>
          </a:p>
        </p:txBody>
      </p:sp>
      <p:sp>
        <p:nvSpPr>
          <p:cNvPr id="17" name="TextBox 16"/>
          <p:cNvSpPr txBox="1"/>
          <p:nvPr/>
        </p:nvSpPr>
        <p:spPr>
          <a:xfrm>
            <a:off x="3200400" y="4059936"/>
            <a:ext cx="2377440" cy="320040"/>
          </a:xfrm>
          <a:prstGeom prst="rect">
            <a:avLst/>
          </a:prstGeom>
          <a:noFill/>
        </p:spPr>
        <p:txBody>
          <a:bodyPr wrap="square">
            <a:spAutoFit/>
          </a:bodyPr>
          <a:lstStyle/>
          <a:p>
            <a:pPr algn="l"/>
            <a:r>
              <a:rPr sz="1050" b="0">
                <a:solidFill>
                  <a:srgbClr val="8B949E"/>
                </a:solidFill>
                <a:latin typeface="Inter"/>
              </a:rPr>
              <a:t>PCI-DSS / SOC2 / EU AI Act evidence artifact</a:t>
            </a:r>
          </a:p>
        </p:txBody>
      </p:sp>
      <p:sp>
        <p:nvSpPr>
          <p:cNvPr id="18" name="TextBox 17"/>
          <p:cNvSpPr txBox="1"/>
          <p:nvPr/>
        </p:nvSpPr>
        <p:spPr>
          <a:xfrm>
            <a:off x="640080" y="4114800"/>
            <a:ext cx="4937760" cy="685800"/>
          </a:xfrm>
          <a:prstGeom prst="rect">
            <a:avLst/>
          </a:prstGeom>
          <a:noFill/>
        </p:spPr>
        <p:txBody>
          <a:bodyPr wrap="square">
            <a:spAutoFit/>
          </a:bodyPr>
          <a:lstStyle/>
          <a:p>
            <a:pPr algn="l"/>
            <a:r>
              <a:rPr sz="1100" b="1">
                <a:solidFill>
                  <a:srgbClr val="E6EDF3"/>
                </a:solidFill>
                <a:latin typeface="Inter"/>
              </a:rPr>
              <a:t>The executor CANNOT start
without explicit human approval.</a:t>
            </a:r>
          </a:p>
        </p:txBody>
      </p:sp>
      <p:sp>
        <p:nvSpPr>
          <p:cNvPr id="19" name="Rectangle 18"/>
          <p:cNvSpPr/>
          <p:nvPr/>
        </p:nvSpPr>
        <p:spPr>
          <a:xfrm>
            <a:off x="6035040" y="1371600"/>
            <a:ext cx="5669280" cy="420624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463040"/>
            <a:ext cx="5303520" cy="411480"/>
          </a:xfrm>
          <a:prstGeom prst="rect">
            <a:avLst/>
          </a:prstGeom>
          <a:noFill/>
        </p:spPr>
        <p:txBody>
          <a:bodyPr wrap="square">
            <a:spAutoFit/>
          </a:bodyPr>
          <a:lstStyle/>
          <a:p>
            <a:pPr algn="l"/>
            <a:r>
              <a:rPr sz="1200" b="1">
                <a:solidFill>
                  <a:srgbClr val="F59E0B"/>
                </a:solidFill>
                <a:latin typeface="Inter"/>
              </a:rPr>
              <a:t>RegistryService (Anti-Hallucination)</a:t>
            </a:r>
          </a:p>
        </p:txBody>
      </p:sp>
      <p:sp>
        <p:nvSpPr>
          <p:cNvPr id="21" name="TextBox 20"/>
          <p:cNvSpPr txBox="1"/>
          <p:nvPr/>
        </p:nvSpPr>
        <p:spPr>
          <a:xfrm>
            <a:off x="6217920" y="1938528"/>
            <a:ext cx="2560320" cy="347472"/>
          </a:xfrm>
          <a:prstGeom prst="rect">
            <a:avLst/>
          </a:prstGeom>
          <a:noFill/>
        </p:spPr>
        <p:txBody>
          <a:bodyPr wrap="square">
            <a:spAutoFit/>
          </a:bodyPr>
          <a:lstStyle/>
          <a:p>
            <a:pPr algn="l"/>
            <a:r>
              <a:rPr sz="1050" b="1">
                <a:solidFill>
                  <a:srgbClr val="38BDF8"/>
                </a:solidFill>
                <a:latin typeface="Inter"/>
              </a:rPr>
              <a:t>▸  Schema Registry</a:t>
            </a:r>
          </a:p>
        </p:txBody>
      </p:sp>
      <p:sp>
        <p:nvSpPr>
          <p:cNvPr id="22" name="TextBox 21"/>
          <p:cNvSpPr txBox="1"/>
          <p:nvPr/>
        </p:nvSpPr>
        <p:spPr>
          <a:xfrm>
            <a:off x="8778240" y="1938528"/>
            <a:ext cx="2743200" cy="347472"/>
          </a:xfrm>
          <a:prstGeom prst="rect">
            <a:avLst/>
          </a:prstGeom>
          <a:noFill/>
        </p:spPr>
        <p:txBody>
          <a:bodyPr wrap="square">
            <a:spAutoFit/>
          </a:bodyPr>
          <a:lstStyle/>
          <a:p>
            <a:pPr algn="l"/>
            <a:r>
              <a:rPr sz="1000" b="0">
                <a:solidFill>
                  <a:srgbClr val="8B949E"/>
                </a:solidFill>
                <a:latin typeface="Inter"/>
              </a:rPr>
              <a:t>Entity fields → extract_intent, extract_entities</a:t>
            </a:r>
          </a:p>
        </p:txBody>
      </p:sp>
      <p:sp>
        <p:nvSpPr>
          <p:cNvPr id="23" name="TextBox 22"/>
          <p:cNvSpPr txBox="1"/>
          <p:nvPr/>
        </p:nvSpPr>
        <p:spPr>
          <a:xfrm>
            <a:off x="6217920" y="2468880"/>
            <a:ext cx="2560320" cy="347472"/>
          </a:xfrm>
          <a:prstGeom prst="rect">
            <a:avLst/>
          </a:prstGeom>
          <a:noFill/>
        </p:spPr>
        <p:txBody>
          <a:bodyPr wrap="square">
            <a:spAutoFit/>
          </a:bodyPr>
          <a:lstStyle/>
          <a:p>
            <a:pPr algn="l"/>
            <a:r>
              <a:rPr sz="1050" b="1">
                <a:solidFill>
                  <a:srgbClr val="22C55E"/>
                </a:solidFill>
                <a:latin typeface="Inter"/>
              </a:rPr>
              <a:t>▸  Tool Registry</a:t>
            </a:r>
          </a:p>
        </p:txBody>
      </p:sp>
      <p:sp>
        <p:nvSpPr>
          <p:cNvPr id="24" name="TextBox 23"/>
          <p:cNvSpPr txBox="1"/>
          <p:nvPr/>
        </p:nvSpPr>
        <p:spPr>
          <a:xfrm>
            <a:off x="8778240" y="2468880"/>
            <a:ext cx="2743200" cy="347472"/>
          </a:xfrm>
          <a:prstGeom prst="rect">
            <a:avLst/>
          </a:prstGeom>
          <a:noFill/>
        </p:spPr>
        <p:txBody>
          <a:bodyPr wrap="square">
            <a:spAutoFit/>
          </a:bodyPr>
          <a:lstStyle/>
          <a:p>
            <a:pPr algn="l"/>
            <a:r>
              <a:rPr sz="1000" b="0">
                <a:solidFill>
                  <a:srgbClr val="8B949E"/>
                </a:solidFill>
                <a:latin typeface="Inter"/>
              </a:rPr>
              <a:t>Tool names + contracts → plan node uses real names only</a:t>
            </a:r>
          </a:p>
        </p:txBody>
      </p:sp>
      <p:sp>
        <p:nvSpPr>
          <p:cNvPr id="25" name="TextBox 24"/>
          <p:cNvSpPr txBox="1"/>
          <p:nvPr/>
        </p:nvSpPr>
        <p:spPr>
          <a:xfrm>
            <a:off x="6217920" y="2999232"/>
            <a:ext cx="2560320" cy="347472"/>
          </a:xfrm>
          <a:prstGeom prst="rect">
            <a:avLst/>
          </a:prstGeom>
          <a:noFill/>
        </p:spPr>
        <p:txBody>
          <a:bodyPr wrap="square">
            <a:spAutoFit/>
          </a:bodyPr>
          <a:lstStyle/>
          <a:p>
            <a:pPr algn="l"/>
            <a:r>
              <a:rPr sz="1050" b="1">
                <a:solidFill>
                  <a:srgbClr val="F59E0B"/>
                </a:solidFill>
                <a:latin typeface="Inter"/>
              </a:rPr>
              <a:t>▸  Playbook Registry</a:t>
            </a:r>
          </a:p>
        </p:txBody>
      </p:sp>
      <p:sp>
        <p:nvSpPr>
          <p:cNvPr id="26" name="TextBox 25"/>
          <p:cNvSpPr txBox="1"/>
          <p:nvPr/>
        </p:nvSpPr>
        <p:spPr>
          <a:xfrm>
            <a:off x="8778240" y="2999232"/>
            <a:ext cx="2743200" cy="347472"/>
          </a:xfrm>
          <a:prstGeom prst="rect">
            <a:avLst/>
          </a:prstGeom>
          <a:noFill/>
        </p:spPr>
        <p:txBody>
          <a:bodyPr wrap="square">
            <a:spAutoFit/>
          </a:bodyPr>
          <a:lstStyle/>
          <a:p>
            <a:pPr algn="l"/>
            <a:r>
              <a:rPr sz="1000" b="0">
                <a:solidFill>
                  <a:srgbClr val="8B949E"/>
                </a:solidFill>
                <a:latin typeface="Inter"/>
              </a:rPr>
              <a:t>Domain ordering rules, hard constraints → validated post-plan</a:t>
            </a:r>
          </a:p>
        </p:txBody>
      </p:sp>
      <p:sp>
        <p:nvSpPr>
          <p:cNvPr id="27" name="TextBox 26"/>
          <p:cNvSpPr txBox="1"/>
          <p:nvPr/>
        </p:nvSpPr>
        <p:spPr>
          <a:xfrm>
            <a:off x="6217920" y="3529584"/>
            <a:ext cx="2560320" cy="347472"/>
          </a:xfrm>
          <a:prstGeom prst="rect">
            <a:avLst/>
          </a:prstGeom>
          <a:noFill/>
        </p:spPr>
        <p:txBody>
          <a:bodyPr wrap="square">
            <a:spAutoFit/>
          </a:bodyPr>
          <a:lstStyle/>
          <a:p>
            <a:pPr algn="l"/>
            <a:r>
              <a:rPr sz="1050" b="1">
                <a:solidFill>
                  <a:srgbClr val="A78BFA"/>
                </a:solidFill>
                <a:latin typeface="Inter"/>
              </a:rPr>
              <a:t>▸  Team-Owned</a:t>
            </a:r>
          </a:p>
        </p:txBody>
      </p:sp>
      <p:sp>
        <p:nvSpPr>
          <p:cNvPr id="28" name="TextBox 27"/>
          <p:cNvSpPr txBox="1"/>
          <p:nvPr/>
        </p:nvSpPr>
        <p:spPr>
          <a:xfrm>
            <a:off x="8778240" y="3529584"/>
            <a:ext cx="2743200" cy="347472"/>
          </a:xfrm>
          <a:prstGeom prst="rect">
            <a:avLst/>
          </a:prstGeom>
          <a:noFill/>
        </p:spPr>
        <p:txBody>
          <a:bodyPr wrap="square">
            <a:spAutoFit/>
          </a:bodyPr>
          <a:lstStyle/>
          <a:p>
            <a:pPr algn="l"/>
            <a:r>
              <a:rPr sz="1000" b="0">
                <a:solidFill>
                  <a:srgbClr val="8B949E"/>
                </a:solidFill>
                <a:latin typeface="Inter"/>
              </a:rPr>
              <a:t>POST /schemas, /tools, /playbooks — no code changes needed</a:t>
            </a:r>
          </a:p>
        </p:txBody>
      </p:sp>
      <p:sp>
        <p:nvSpPr>
          <p:cNvPr id="29" name="TextBox 28"/>
          <p:cNvSpPr txBox="1"/>
          <p:nvPr/>
        </p:nvSpPr>
        <p:spPr>
          <a:xfrm>
            <a:off x="6217920" y="4059936"/>
            <a:ext cx="2560320" cy="347472"/>
          </a:xfrm>
          <a:prstGeom prst="rect">
            <a:avLst/>
          </a:prstGeom>
          <a:noFill/>
        </p:spPr>
        <p:txBody>
          <a:bodyPr wrap="square">
            <a:spAutoFit/>
          </a:bodyPr>
          <a:lstStyle/>
          <a:p>
            <a:pPr algn="l"/>
            <a:r>
              <a:rPr sz="1050" b="1">
                <a:solidFill>
                  <a:srgbClr val="FB7185"/>
                </a:solidFill>
                <a:latin typeface="Inter"/>
              </a:rPr>
              <a:t>▸  Versioned</a:t>
            </a:r>
          </a:p>
        </p:txBody>
      </p:sp>
      <p:sp>
        <p:nvSpPr>
          <p:cNvPr id="30" name="TextBox 29"/>
          <p:cNvSpPr txBox="1"/>
          <p:nvPr/>
        </p:nvSpPr>
        <p:spPr>
          <a:xfrm>
            <a:off x="8778240" y="4059936"/>
            <a:ext cx="2743200" cy="347472"/>
          </a:xfrm>
          <a:prstGeom prst="rect">
            <a:avLst/>
          </a:prstGeom>
          <a:noFill/>
        </p:spPr>
        <p:txBody>
          <a:bodyPr wrap="square">
            <a:spAutoFit/>
          </a:bodyPr>
          <a:lstStyle/>
          <a:p>
            <a:pPr algn="l"/>
            <a:r>
              <a:rPr sz="1000" b="0">
                <a:solidFill>
                  <a:srgbClr val="8B949E"/>
                </a:solidFill>
                <a:latin typeface="Inter"/>
              </a:rPr>
              <a:t>BACKWARD/FORWARD/FULL/BREAKING compat checking</a:t>
            </a:r>
          </a:p>
        </p:txBody>
      </p:sp>
      <p:sp>
        <p:nvSpPr>
          <p:cNvPr id="31" name="TextBox 30"/>
          <p:cNvSpPr txBox="1"/>
          <p:nvPr/>
        </p:nvSpPr>
        <p:spPr>
          <a:xfrm>
            <a:off x="6217920" y="4114800"/>
            <a:ext cx="5303520" cy="685800"/>
          </a:xfrm>
          <a:prstGeom prst="rect">
            <a:avLst/>
          </a:prstGeom>
          <a:noFill/>
        </p:spPr>
        <p:txBody>
          <a:bodyPr wrap="square">
            <a:spAutoFit/>
          </a:bodyPr>
          <a:lstStyle/>
          <a:p>
            <a:pPr algn="l"/>
            <a:r>
              <a:rPr sz="1100" b="1">
                <a:solidFill>
                  <a:srgbClr val="E6EDF3"/>
                </a:solidFill>
                <a:latin typeface="Inter"/>
              </a:rPr>
              <a:t>The LLM never guesses tool names.
It reasons from registered facts.</a:t>
            </a:r>
          </a:p>
        </p:txBody>
      </p:sp>
      <p:sp>
        <p:nvSpPr>
          <p:cNvPr id="32" name="Rectangle 31"/>
          <p:cNvSpPr/>
          <p:nvPr/>
        </p:nvSpPr>
        <p:spPr>
          <a:xfrm>
            <a:off x="457200" y="5760720"/>
            <a:ext cx="11274552" cy="731520"/>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897880"/>
            <a:ext cx="10881360" cy="457200"/>
          </a:xfrm>
          <a:prstGeom prst="rect">
            <a:avLst/>
          </a:prstGeom>
          <a:noFill/>
        </p:spPr>
        <p:txBody>
          <a:bodyPr wrap="square">
            <a:spAutoFit/>
          </a:bodyPr>
          <a:lstStyle/>
          <a:p>
            <a:pPr algn="ctr"/>
            <a:r>
              <a:rPr sz="1200" b="1">
                <a:solidFill>
                  <a:srgbClr val="E6EDF3"/>
                </a:solidFill>
                <a:latin typeface="Inter"/>
              </a:rPr>
              <a:t>Together: every consequential action is human-approved and grounded in versioned domain knowledge.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9144000" cy="548640"/>
          </a:xfrm>
          <a:prstGeom prst="rect">
            <a:avLst/>
          </a:prstGeom>
          <a:noFill/>
        </p:spPr>
        <p:txBody>
          <a:bodyPr wrap="square">
            <a:spAutoFit/>
          </a:bodyPr>
          <a:lstStyle/>
          <a:p>
            <a:pPr algn="l"/>
            <a:r>
              <a:rPr sz="2600" b="1">
                <a:solidFill>
                  <a:srgbClr val="E6EDF3"/>
                </a:solidFill>
                <a:latin typeface="Inter"/>
              </a:rPr>
              <a:t>SREDemo: Business Value in 5 Minutes</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07</a:t>
            </a:r>
          </a:p>
        </p:txBody>
      </p:sp>
      <p:sp>
        <p:nvSpPr>
          <p:cNvPr id="5" name="Rectangle 4"/>
          <p:cNvSpPr/>
          <p:nvPr/>
        </p:nvSpPr>
        <p:spPr>
          <a:xfrm>
            <a:off x="457200" y="1097280"/>
            <a:ext cx="11274552" cy="64008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07008"/>
            <a:ext cx="10881360" cy="411480"/>
          </a:xfrm>
          <a:prstGeom prst="rect">
            <a:avLst/>
          </a:prstGeom>
          <a:noFill/>
        </p:spPr>
        <p:txBody>
          <a:bodyPr wrap="square">
            <a:spAutoFit/>
          </a:bodyPr>
          <a:lstStyle/>
          <a:p>
            <a:pPr algn="l"/>
            <a:r>
              <a:rPr sz="1200" b="0">
                <a:solidFill>
                  <a:srgbClr val="8B949E"/>
                </a:solidFill>
                <a:latin typeface="Inter"/>
              </a:rPr>
              <a:t>🔴  SRE types: "K8s pods are OOMKilled every 2 minutes in production — payment-service is down"</a:t>
            </a:r>
          </a:p>
        </p:txBody>
      </p:sp>
      <p:sp>
        <p:nvSpPr>
          <p:cNvPr id="7" name="Rectangle 6"/>
          <p:cNvSpPr/>
          <p:nvPr/>
        </p:nvSpPr>
        <p:spPr>
          <a:xfrm>
            <a:off x="457200" y="1920240"/>
            <a:ext cx="1536192" cy="2194560"/>
          </a:xfrm>
          <a:prstGeom prst="rect">
            <a:avLst/>
          </a:prstGeom>
          <a:solidFill>
            <a:srgbClr val="0D1117"/>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920240"/>
            <a:ext cx="1536192"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011680"/>
            <a:ext cx="1380744" cy="347472"/>
          </a:xfrm>
          <a:prstGeom prst="rect">
            <a:avLst/>
          </a:prstGeom>
          <a:noFill/>
        </p:spPr>
        <p:txBody>
          <a:bodyPr wrap="square">
            <a:spAutoFit/>
          </a:bodyPr>
          <a:lstStyle/>
          <a:p>
            <a:pPr algn="l"/>
            <a:r>
              <a:rPr sz="1100" b="1">
                <a:solidFill>
                  <a:srgbClr val="A78BFA"/>
                </a:solidFill>
                <a:latin typeface="Inter"/>
              </a:rPr>
              <a:t>Intent</a:t>
            </a:r>
          </a:p>
        </p:txBody>
      </p:sp>
      <p:sp>
        <p:nvSpPr>
          <p:cNvPr id="10" name="TextBox 9"/>
          <p:cNvSpPr txBox="1"/>
          <p:nvPr/>
        </p:nvSpPr>
        <p:spPr>
          <a:xfrm>
            <a:off x="548640" y="2395728"/>
            <a:ext cx="1380744" cy="777240"/>
          </a:xfrm>
          <a:prstGeom prst="rect">
            <a:avLst/>
          </a:prstGeom>
          <a:noFill/>
        </p:spPr>
        <p:txBody>
          <a:bodyPr wrap="square">
            <a:spAutoFit/>
          </a:bodyPr>
          <a:lstStyle/>
          <a:p>
            <a:pPr algn="l"/>
            <a:r>
              <a:rPr sz="950" b="0">
                <a:solidFill>
                  <a:srgbClr val="8B949E"/>
                </a:solidFill>
                <a:latin typeface="Inter"/>
              </a:rPr>
              <a:t>Classifies domain, action, severity</a:t>
            </a:r>
          </a:p>
        </p:txBody>
      </p:sp>
      <p:sp>
        <p:nvSpPr>
          <p:cNvPr id="11" name="TextBox 10"/>
          <p:cNvSpPr txBox="1"/>
          <p:nvPr/>
        </p:nvSpPr>
        <p:spPr>
          <a:xfrm>
            <a:off x="548640" y="3429000"/>
            <a:ext cx="1380744" cy="411480"/>
          </a:xfrm>
          <a:prstGeom prst="rect">
            <a:avLst/>
          </a:prstGeom>
          <a:noFill/>
        </p:spPr>
        <p:txBody>
          <a:bodyPr wrap="square">
            <a:spAutoFit/>
          </a:bodyPr>
          <a:lstStyle/>
          <a:p>
            <a:pPr algn="l"/>
            <a:r>
              <a:rPr sz="1300" b="1">
                <a:solidFill>
                  <a:srgbClr val="8B949E"/>
                </a:solidFill>
                <a:latin typeface="Inter"/>
              </a:rPr>
              <a:t>~3s</a:t>
            </a:r>
          </a:p>
        </p:txBody>
      </p:sp>
      <p:sp>
        <p:nvSpPr>
          <p:cNvPr id="12" name="Rectangle 11"/>
          <p:cNvSpPr/>
          <p:nvPr/>
        </p:nvSpPr>
        <p:spPr>
          <a:xfrm>
            <a:off x="2066543" y="1920240"/>
            <a:ext cx="1536192" cy="2194560"/>
          </a:xfrm>
          <a:prstGeom prst="rect">
            <a:avLst/>
          </a:prstGeom>
          <a:solidFill>
            <a:srgbClr val="0D111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66543" y="1920240"/>
            <a:ext cx="1536192"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57984" y="2011680"/>
            <a:ext cx="1380744" cy="347472"/>
          </a:xfrm>
          <a:prstGeom prst="rect">
            <a:avLst/>
          </a:prstGeom>
          <a:noFill/>
        </p:spPr>
        <p:txBody>
          <a:bodyPr wrap="square">
            <a:spAutoFit/>
          </a:bodyPr>
          <a:lstStyle/>
          <a:p>
            <a:pPr algn="l"/>
            <a:r>
              <a:rPr sz="1100" b="1">
                <a:solidFill>
                  <a:srgbClr val="F59E0B"/>
                </a:solidFill>
                <a:latin typeface="Inter"/>
              </a:rPr>
              <a:t>Clarify</a:t>
            </a:r>
          </a:p>
        </p:txBody>
      </p:sp>
      <p:sp>
        <p:nvSpPr>
          <p:cNvPr id="15" name="TextBox 14"/>
          <p:cNvSpPr txBox="1"/>
          <p:nvPr/>
        </p:nvSpPr>
        <p:spPr>
          <a:xfrm>
            <a:off x="2157984" y="2395728"/>
            <a:ext cx="1380744" cy="777240"/>
          </a:xfrm>
          <a:prstGeom prst="rect">
            <a:avLst/>
          </a:prstGeom>
          <a:noFill/>
        </p:spPr>
        <p:txBody>
          <a:bodyPr wrap="square">
            <a:spAutoFit/>
          </a:bodyPr>
          <a:lstStyle/>
          <a:p>
            <a:pPr algn="l"/>
            <a:r>
              <a:rPr sz="950" b="0">
                <a:solidFill>
                  <a:srgbClr val="8B949E"/>
                </a:solidFill>
                <a:latin typeface="Inter"/>
              </a:rPr>
              <a:t>Asks one targeted question</a:t>
            </a:r>
          </a:p>
        </p:txBody>
      </p:sp>
      <p:sp>
        <p:nvSpPr>
          <p:cNvPr id="16" name="TextBox 15"/>
          <p:cNvSpPr txBox="1"/>
          <p:nvPr/>
        </p:nvSpPr>
        <p:spPr>
          <a:xfrm>
            <a:off x="2157984" y="3429000"/>
            <a:ext cx="1380744" cy="411480"/>
          </a:xfrm>
          <a:prstGeom prst="rect">
            <a:avLst/>
          </a:prstGeom>
          <a:noFill/>
        </p:spPr>
        <p:txBody>
          <a:bodyPr wrap="square">
            <a:spAutoFit/>
          </a:bodyPr>
          <a:lstStyle/>
          <a:p>
            <a:pPr algn="l"/>
            <a:r>
              <a:rPr sz="1300" b="1">
                <a:solidFill>
                  <a:srgbClr val="8B949E"/>
                </a:solidFill>
                <a:latin typeface="Inter"/>
              </a:rPr>
              <a:t>~5s</a:t>
            </a:r>
          </a:p>
        </p:txBody>
      </p:sp>
      <p:sp>
        <p:nvSpPr>
          <p:cNvPr id="17" name="Rectangle 16"/>
          <p:cNvSpPr/>
          <p:nvPr/>
        </p:nvSpPr>
        <p:spPr>
          <a:xfrm>
            <a:off x="3675887" y="1920240"/>
            <a:ext cx="1536192" cy="2194560"/>
          </a:xfrm>
          <a:prstGeom prst="rect">
            <a:avLst/>
          </a:prstGeom>
          <a:solidFill>
            <a:srgbClr val="0D1117"/>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5887" y="1920240"/>
            <a:ext cx="1536192"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7327" y="2011680"/>
            <a:ext cx="1380744" cy="347472"/>
          </a:xfrm>
          <a:prstGeom prst="rect">
            <a:avLst/>
          </a:prstGeom>
          <a:noFill/>
        </p:spPr>
        <p:txBody>
          <a:bodyPr wrap="square">
            <a:spAutoFit/>
          </a:bodyPr>
          <a:lstStyle/>
          <a:p>
            <a:pPr algn="l"/>
            <a:r>
              <a:rPr sz="1100" b="1">
                <a:solidFill>
                  <a:srgbClr val="A78BFA"/>
                </a:solidFill>
                <a:latin typeface="Inter"/>
              </a:rPr>
              <a:t>Entities</a:t>
            </a:r>
          </a:p>
        </p:txBody>
      </p:sp>
      <p:sp>
        <p:nvSpPr>
          <p:cNvPr id="20" name="TextBox 19"/>
          <p:cNvSpPr txBox="1"/>
          <p:nvPr/>
        </p:nvSpPr>
        <p:spPr>
          <a:xfrm>
            <a:off x="3767327" y="2395728"/>
            <a:ext cx="1380744" cy="777240"/>
          </a:xfrm>
          <a:prstGeom prst="rect">
            <a:avLst/>
          </a:prstGeom>
          <a:noFill/>
        </p:spPr>
        <p:txBody>
          <a:bodyPr wrap="square">
            <a:spAutoFit/>
          </a:bodyPr>
          <a:lstStyle/>
          <a:p>
            <a:pPr algn="l"/>
            <a:r>
              <a:rPr sz="950" b="0">
                <a:solidFill>
                  <a:srgbClr val="8B949E"/>
                </a:solidFill>
                <a:latin typeface="Inter"/>
              </a:rPr>
              <a:t>Extracts severity, service, error type</a:t>
            </a:r>
          </a:p>
        </p:txBody>
      </p:sp>
      <p:sp>
        <p:nvSpPr>
          <p:cNvPr id="21" name="TextBox 20"/>
          <p:cNvSpPr txBox="1"/>
          <p:nvPr/>
        </p:nvSpPr>
        <p:spPr>
          <a:xfrm>
            <a:off x="3767327" y="3429000"/>
            <a:ext cx="1380744" cy="411480"/>
          </a:xfrm>
          <a:prstGeom prst="rect">
            <a:avLst/>
          </a:prstGeom>
          <a:noFill/>
        </p:spPr>
        <p:txBody>
          <a:bodyPr wrap="square">
            <a:spAutoFit/>
          </a:bodyPr>
          <a:lstStyle/>
          <a:p>
            <a:pPr algn="l"/>
            <a:r>
              <a:rPr sz="1300" b="1">
                <a:solidFill>
                  <a:srgbClr val="8B949E"/>
                </a:solidFill>
                <a:latin typeface="Inter"/>
              </a:rPr>
              <a:t>~3s</a:t>
            </a:r>
          </a:p>
        </p:txBody>
      </p:sp>
      <p:sp>
        <p:nvSpPr>
          <p:cNvPr id="22" name="Rectangle 21"/>
          <p:cNvSpPr/>
          <p:nvPr/>
        </p:nvSpPr>
        <p:spPr>
          <a:xfrm>
            <a:off x="5285231" y="1920240"/>
            <a:ext cx="1536192" cy="2194560"/>
          </a:xfrm>
          <a:prstGeom prst="rect">
            <a:avLst/>
          </a:prstGeom>
          <a:solidFill>
            <a:srgbClr val="0D1117"/>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85231" y="1920240"/>
            <a:ext cx="1536192"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76671" y="2011680"/>
            <a:ext cx="1380744" cy="347472"/>
          </a:xfrm>
          <a:prstGeom prst="rect">
            <a:avLst/>
          </a:prstGeom>
          <a:noFill/>
        </p:spPr>
        <p:txBody>
          <a:bodyPr wrap="square">
            <a:spAutoFit/>
          </a:bodyPr>
          <a:lstStyle/>
          <a:p>
            <a:pPr algn="l"/>
            <a:r>
              <a:rPr sz="1100" b="1">
                <a:solidFill>
                  <a:srgbClr val="22C55E"/>
                </a:solidFill>
                <a:latin typeface="Inter"/>
              </a:rPr>
              <a:t>Plan</a:t>
            </a:r>
          </a:p>
        </p:txBody>
      </p:sp>
      <p:sp>
        <p:nvSpPr>
          <p:cNvPr id="25" name="TextBox 24"/>
          <p:cNvSpPr txBox="1"/>
          <p:nvPr/>
        </p:nvSpPr>
        <p:spPr>
          <a:xfrm>
            <a:off x="5376671" y="2395728"/>
            <a:ext cx="1380744" cy="777240"/>
          </a:xfrm>
          <a:prstGeom prst="rect">
            <a:avLst/>
          </a:prstGeom>
          <a:noFill/>
        </p:spPr>
        <p:txBody>
          <a:bodyPr wrap="square">
            <a:spAutoFit/>
          </a:bodyPr>
          <a:lstStyle/>
          <a:p>
            <a:pPr algn="l"/>
            <a:r>
              <a:rPr sz="950" b="0">
                <a:solidFill>
                  <a:srgbClr val="8B949E"/>
                </a:solidFill>
                <a:latin typeface="Inter"/>
              </a:rPr>
              <a:t>9-step DAG — few-shot from history</a:t>
            </a:r>
          </a:p>
        </p:txBody>
      </p:sp>
      <p:sp>
        <p:nvSpPr>
          <p:cNvPr id="26" name="TextBox 25"/>
          <p:cNvSpPr txBox="1"/>
          <p:nvPr/>
        </p:nvSpPr>
        <p:spPr>
          <a:xfrm>
            <a:off x="5376671" y="3429000"/>
            <a:ext cx="1380744" cy="411480"/>
          </a:xfrm>
          <a:prstGeom prst="rect">
            <a:avLst/>
          </a:prstGeom>
          <a:noFill/>
        </p:spPr>
        <p:txBody>
          <a:bodyPr wrap="square">
            <a:spAutoFit/>
          </a:bodyPr>
          <a:lstStyle/>
          <a:p>
            <a:pPr algn="l"/>
            <a:r>
              <a:rPr sz="1300" b="1">
                <a:solidFill>
                  <a:srgbClr val="8B949E"/>
                </a:solidFill>
                <a:latin typeface="Inter"/>
              </a:rPr>
              <a:t>~8s</a:t>
            </a:r>
          </a:p>
        </p:txBody>
      </p:sp>
      <p:sp>
        <p:nvSpPr>
          <p:cNvPr id="27" name="Rectangle 26"/>
          <p:cNvSpPr/>
          <p:nvPr/>
        </p:nvSpPr>
        <p:spPr>
          <a:xfrm>
            <a:off x="6894575" y="1920240"/>
            <a:ext cx="1536192" cy="2194560"/>
          </a:xfrm>
          <a:prstGeom prst="rect">
            <a:avLst/>
          </a:prstGeom>
          <a:solidFill>
            <a:srgbClr val="0D1117"/>
          </a:solidFill>
          <a:ln w="9525">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94575" y="1920240"/>
            <a:ext cx="1536192" cy="5486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86015" y="2011680"/>
            <a:ext cx="1380744" cy="347472"/>
          </a:xfrm>
          <a:prstGeom prst="rect">
            <a:avLst/>
          </a:prstGeom>
          <a:noFill/>
        </p:spPr>
        <p:txBody>
          <a:bodyPr wrap="square">
            <a:spAutoFit/>
          </a:bodyPr>
          <a:lstStyle/>
          <a:p>
            <a:pPr algn="l"/>
            <a:r>
              <a:rPr sz="1100" b="1">
                <a:solidFill>
                  <a:srgbClr val="F87171"/>
                </a:solidFill>
                <a:latin typeface="Inter"/>
              </a:rPr>
              <a:t>HITL Gate</a:t>
            </a:r>
          </a:p>
        </p:txBody>
      </p:sp>
      <p:sp>
        <p:nvSpPr>
          <p:cNvPr id="30" name="TextBox 29"/>
          <p:cNvSpPr txBox="1"/>
          <p:nvPr/>
        </p:nvSpPr>
        <p:spPr>
          <a:xfrm>
            <a:off x="6986015" y="2395728"/>
            <a:ext cx="1380744" cy="777240"/>
          </a:xfrm>
          <a:prstGeom prst="rect">
            <a:avLst/>
          </a:prstGeom>
          <a:noFill/>
        </p:spPr>
        <p:txBody>
          <a:bodyPr wrap="square">
            <a:spAutoFit/>
          </a:bodyPr>
          <a:lstStyle/>
          <a:p>
            <a:pPr algn="l"/>
            <a:r>
              <a:rPr sz="950" b="0">
                <a:solidFill>
                  <a:srgbClr val="8B949E"/>
                </a:solidFill>
                <a:latin typeface="Inter"/>
              </a:rPr>
              <a:t>SRE reviews + approves full plan</a:t>
            </a:r>
          </a:p>
        </p:txBody>
      </p:sp>
      <p:sp>
        <p:nvSpPr>
          <p:cNvPr id="31" name="TextBox 30"/>
          <p:cNvSpPr txBox="1"/>
          <p:nvPr/>
        </p:nvSpPr>
        <p:spPr>
          <a:xfrm>
            <a:off x="6986015" y="3429000"/>
            <a:ext cx="1380744" cy="411480"/>
          </a:xfrm>
          <a:prstGeom prst="rect">
            <a:avLst/>
          </a:prstGeom>
          <a:noFill/>
        </p:spPr>
        <p:txBody>
          <a:bodyPr wrap="square">
            <a:spAutoFit/>
          </a:bodyPr>
          <a:lstStyle/>
          <a:p>
            <a:pPr algn="l"/>
            <a:r>
              <a:rPr sz="1300" b="1">
                <a:solidFill>
                  <a:srgbClr val="F87171"/>
                </a:solidFill>
                <a:latin typeface="Inter"/>
              </a:rPr>
              <a:t>Human</a:t>
            </a:r>
          </a:p>
        </p:txBody>
      </p:sp>
      <p:sp>
        <p:nvSpPr>
          <p:cNvPr id="32" name="Rectangle 31"/>
          <p:cNvSpPr/>
          <p:nvPr/>
        </p:nvSpPr>
        <p:spPr>
          <a:xfrm>
            <a:off x="8503919" y="1920240"/>
            <a:ext cx="1536192" cy="2194560"/>
          </a:xfrm>
          <a:prstGeom prst="rect">
            <a:avLst/>
          </a:prstGeom>
          <a:solidFill>
            <a:srgbClr val="0D1117"/>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03919" y="1920240"/>
            <a:ext cx="1536192"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59" y="2011680"/>
            <a:ext cx="1380744" cy="347472"/>
          </a:xfrm>
          <a:prstGeom prst="rect">
            <a:avLst/>
          </a:prstGeom>
          <a:noFill/>
        </p:spPr>
        <p:txBody>
          <a:bodyPr wrap="square">
            <a:spAutoFit/>
          </a:bodyPr>
          <a:lstStyle/>
          <a:p>
            <a:pPr algn="l"/>
            <a:r>
              <a:rPr sz="1100" b="1">
                <a:solidFill>
                  <a:srgbClr val="38BDF8"/>
                </a:solidFill>
                <a:latin typeface="Inter"/>
              </a:rPr>
              <a:t>Execute</a:t>
            </a:r>
          </a:p>
        </p:txBody>
      </p:sp>
      <p:sp>
        <p:nvSpPr>
          <p:cNvPr id="35" name="TextBox 34"/>
          <p:cNvSpPr txBox="1"/>
          <p:nvPr/>
        </p:nvSpPr>
        <p:spPr>
          <a:xfrm>
            <a:off x="8595359" y="2395728"/>
            <a:ext cx="1380744" cy="777240"/>
          </a:xfrm>
          <a:prstGeom prst="rect">
            <a:avLst/>
          </a:prstGeom>
          <a:noFill/>
        </p:spPr>
        <p:txBody>
          <a:bodyPr wrap="square">
            <a:spAutoFit/>
          </a:bodyPr>
          <a:lstStyle/>
          <a:p>
            <a:pPr algn="l"/>
            <a:r>
              <a:rPr sz="950" b="0">
                <a:solidFill>
                  <a:srgbClr val="8B949E"/>
                </a:solidFill>
                <a:latin typeface="Inter"/>
              </a:rPr>
              <a:t>9 tools run in parallel dependency order</a:t>
            </a:r>
          </a:p>
        </p:txBody>
      </p:sp>
      <p:sp>
        <p:nvSpPr>
          <p:cNvPr id="36" name="TextBox 35"/>
          <p:cNvSpPr txBox="1"/>
          <p:nvPr/>
        </p:nvSpPr>
        <p:spPr>
          <a:xfrm>
            <a:off x="8595359" y="3429000"/>
            <a:ext cx="1380744" cy="411480"/>
          </a:xfrm>
          <a:prstGeom prst="rect">
            <a:avLst/>
          </a:prstGeom>
          <a:noFill/>
        </p:spPr>
        <p:txBody>
          <a:bodyPr wrap="square">
            <a:spAutoFit/>
          </a:bodyPr>
          <a:lstStyle/>
          <a:p>
            <a:pPr algn="l"/>
            <a:r>
              <a:rPr sz="1300" b="1">
                <a:solidFill>
                  <a:srgbClr val="8B949E"/>
                </a:solidFill>
                <a:latin typeface="Inter"/>
              </a:rPr>
              <a:t>~45s</a:t>
            </a:r>
          </a:p>
        </p:txBody>
      </p:sp>
      <p:sp>
        <p:nvSpPr>
          <p:cNvPr id="37" name="Rectangle 36"/>
          <p:cNvSpPr/>
          <p:nvPr/>
        </p:nvSpPr>
        <p:spPr>
          <a:xfrm>
            <a:off x="10113263" y="1920240"/>
            <a:ext cx="1536192" cy="2194560"/>
          </a:xfrm>
          <a:prstGeom prst="rect">
            <a:avLst/>
          </a:prstGeom>
          <a:solidFill>
            <a:srgbClr val="0D1117"/>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113263" y="1920240"/>
            <a:ext cx="1536192"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4703" y="2011680"/>
            <a:ext cx="1380744" cy="347472"/>
          </a:xfrm>
          <a:prstGeom prst="rect">
            <a:avLst/>
          </a:prstGeom>
          <a:noFill/>
        </p:spPr>
        <p:txBody>
          <a:bodyPr wrap="square">
            <a:spAutoFit/>
          </a:bodyPr>
          <a:lstStyle/>
          <a:p>
            <a:pPr algn="l"/>
            <a:r>
              <a:rPr sz="1100" b="1">
                <a:solidFill>
                  <a:srgbClr val="22C55E"/>
                </a:solidFill>
                <a:latin typeface="Inter"/>
              </a:rPr>
              <a:t>Report</a:t>
            </a:r>
          </a:p>
        </p:txBody>
      </p:sp>
      <p:sp>
        <p:nvSpPr>
          <p:cNvPr id="40" name="TextBox 39"/>
          <p:cNvSpPr txBox="1"/>
          <p:nvPr/>
        </p:nvSpPr>
        <p:spPr>
          <a:xfrm>
            <a:off x="10204703" y="2395728"/>
            <a:ext cx="1380744" cy="777240"/>
          </a:xfrm>
          <a:prstGeom prst="rect">
            <a:avLst/>
          </a:prstGeom>
          <a:noFill/>
        </p:spPr>
        <p:txBody>
          <a:bodyPr wrap="square">
            <a:spAutoFit/>
          </a:bodyPr>
          <a:lstStyle/>
          <a:p>
            <a:pPr algn="l"/>
            <a:r>
              <a:rPr sz="950" b="0">
                <a:solidFill>
                  <a:srgbClr val="8B949E"/>
                </a:solidFill>
                <a:latin typeface="Inter"/>
              </a:rPr>
              <a:t>Root cause + remediation + follow-ups</a:t>
            </a:r>
          </a:p>
        </p:txBody>
      </p:sp>
      <p:sp>
        <p:nvSpPr>
          <p:cNvPr id="41" name="TextBox 40"/>
          <p:cNvSpPr txBox="1"/>
          <p:nvPr/>
        </p:nvSpPr>
        <p:spPr>
          <a:xfrm>
            <a:off x="10204703" y="3429000"/>
            <a:ext cx="1380744" cy="411480"/>
          </a:xfrm>
          <a:prstGeom prst="rect">
            <a:avLst/>
          </a:prstGeom>
          <a:noFill/>
        </p:spPr>
        <p:txBody>
          <a:bodyPr wrap="square">
            <a:spAutoFit/>
          </a:bodyPr>
          <a:lstStyle/>
          <a:p>
            <a:pPr algn="l"/>
            <a:r>
              <a:rPr sz="1300" b="1">
                <a:solidFill>
                  <a:srgbClr val="8B949E"/>
                </a:solidFill>
                <a:latin typeface="Inter"/>
              </a:rPr>
              <a:t>~5s</a:t>
            </a:r>
          </a:p>
        </p:txBody>
      </p:sp>
      <p:sp>
        <p:nvSpPr>
          <p:cNvPr id="42" name="Rectangle 41"/>
          <p:cNvSpPr/>
          <p:nvPr/>
        </p:nvSpPr>
        <p:spPr>
          <a:xfrm>
            <a:off x="457200" y="4343400"/>
            <a:ext cx="5394960" cy="1371600"/>
          </a:xfrm>
          <a:prstGeom prst="rect">
            <a:avLst/>
          </a:prstGeom>
          <a:solidFill>
            <a:srgbClr val="062A14"/>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4480560"/>
            <a:ext cx="5029200" cy="594360"/>
          </a:xfrm>
          <a:prstGeom prst="rect">
            <a:avLst/>
          </a:prstGeom>
          <a:noFill/>
        </p:spPr>
        <p:txBody>
          <a:bodyPr wrap="square">
            <a:spAutoFit/>
          </a:bodyPr>
          <a:lstStyle/>
          <a:p>
            <a:pPr algn="ctr"/>
            <a:r>
              <a:rPr sz="3400" b="1">
                <a:solidFill>
                  <a:srgbClr val="22C55E"/>
                </a:solidFill>
                <a:latin typeface="Inter"/>
              </a:rPr>
              <a:t>&lt; 5 minutes</a:t>
            </a:r>
          </a:p>
        </p:txBody>
      </p:sp>
      <p:sp>
        <p:nvSpPr>
          <p:cNvPr id="44" name="TextBox 43"/>
          <p:cNvSpPr txBox="1"/>
          <p:nvPr/>
        </p:nvSpPr>
        <p:spPr>
          <a:xfrm>
            <a:off x="640080" y="5029200"/>
            <a:ext cx="5029200" cy="502920"/>
          </a:xfrm>
          <a:prstGeom prst="rect">
            <a:avLst/>
          </a:prstGeom>
          <a:noFill/>
        </p:spPr>
        <p:txBody>
          <a:bodyPr wrap="square">
            <a:spAutoFit/>
          </a:bodyPr>
          <a:lstStyle/>
          <a:p>
            <a:pPr algn="ctr"/>
            <a:r>
              <a:rPr sz="1100" b="0">
                <a:solidFill>
                  <a:srgbClr val="8B949E"/>
                </a:solidFill>
                <a:latin typeface="Inter"/>
              </a:rPr>
              <a:t>agent-assisted resolution (vs 45–90 min manual)</a:t>
            </a:r>
          </a:p>
        </p:txBody>
      </p:sp>
      <p:sp>
        <p:nvSpPr>
          <p:cNvPr id="45" name="Rectangle 44"/>
          <p:cNvSpPr/>
          <p:nvPr/>
        </p:nvSpPr>
        <p:spPr>
          <a:xfrm>
            <a:off x="6035040" y="4343400"/>
            <a:ext cx="5696712" cy="1371600"/>
          </a:xfrm>
          <a:prstGeom prst="rect">
            <a:avLst/>
          </a:prstGeom>
          <a:solidFill>
            <a:srgbClr val="12062A"/>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7920" y="4480560"/>
            <a:ext cx="5394960" cy="594360"/>
          </a:xfrm>
          <a:prstGeom prst="rect">
            <a:avLst/>
          </a:prstGeom>
          <a:noFill/>
        </p:spPr>
        <p:txBody>
          <a:bodyPr wrap="square">
            <a:spAutoFit/>
          </a:bodyPr>
          <a:lstStyle/>
          <a:p>
            <a:pPr algn="ctr"/>
            <a:r>
              <a:rPr sz="3000" b="1">
                <a:solidFill>
                  <a:srgbClr val="A78BFA"/>
                </a:solidFill>
                <a:latin typeface="Inter"/>
              </a:rPr>
              <a:t>$224K–$476K</a:t>
            </a:r>
          </a:p>
        </p:txBody>
      </p:sp>
      <p:sp>
        <p:nvSpPr>
          <p:cNvPr id="47" name="TextBox 46"/>
          <p:cNvSpPr txBox="1"/>
          <p:nvPr/>
        </p:nvSpPr>
        <p:spPr>
          <a:xfrm>
            <a:off x="6217920" y="5029200"/>
            <a:ext cx="5394960" cy="502920"/>
          </a:xfrm>
          <a:prstGeom prst="rect">
            <a:avLst/>
          </a:prstGeom>
          <a:noFill/>
        </p:spPr>
        <p:txBody>
          <a:bodyPr wrap="square">
            <a:spAutoFit/>
          </a:bodyPr>
          <a:lstStyle/>
          <a:p>
            <a:pPr algn="ctr"/>
            <a:r>
              <a:rPr sz="1100" b="0">
                <a:solidFill>
                  <a:srgbClr val="8B949E"/>
                </a:solidFill>
                <a:latin typeface="Inter"/>
              </a:rPr>
              <a:t>saved per P1 incident at $5,600/min</a:t>
            </a:r>
          </a:p>
        </p:txBody>
      </p:sp>
      <p:sp>
        <p:nvSpPr>
          <p:cNvPr id="48" name="Rectangle 47"/>
          <p:cNvSpPr/>
          <p:nvPr/>
        </p:nvSpPr>
        <p:spPr>
          <a:xfrm>
            <a:off x="457200" y="5897880"/>
            <a:ext cx="2743200" cy="685800"/>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5961888"/>
            <a:ext cx="2468880" cy="274320"/>
          </a:xfrm>
          <a:prstGeom prst="rect">
            <a:avLst/>
          </a:prstGeom>
          <a:noFill/>
        </p:spPr>
        <p:txBody>
          <a:bodyPr wrap="square">
            <a:spAutoFit/>
          </a:bodyPr>
          <a:lstStyle/>
          <a:p>
            <a:pPr algn="l"/>
            <a:r>
              <a:rPr sz="1050" b="1">
                <a:solidFill>
                  <a:srgbClr val="E6EDF3"/>
                </a:solidFill>
                <a:latin typeface="Inter"/>
              </a:rPr>
              <a:t>☸ K8s Crashloop</a:t>
            </a:r>
          </a:p>
        </p:txBody>
      </p:sp>
      <p:sp>
        <p:nvSpPr>
          <p:cNvPr id="50" name="TextBox 49"/>
          <p:cNvSpPr txBox="1"/>
          <p:nvPr/>
        </p:nvSpPr>
        <p:spPr>
          <a:xfrm>
            <a:off x="594360" y="6236208"/>
            <a:ext cx="2468880" cy="256032"/>
          </a:xfrm>
          <a:prstGeom prst="rect">
            <a:avLst/>
          </a:prstGeom>
          <a:noFill/>
        </p:spPr>
        <p:txBody>
          <a:bodyPr wrap="square">
            <a:spAutoFit/>
          </a:bodyPr>
          <a:lstStyle/>
          <a:p>
            <a:pPr algn="l"/>
            <a:r>
              <a:rPr sz="900" b="0">
                <a:solidFill>
                  <a:srgbClr val="8B949E"/>
                </a:solidFill>
                <a:latin typeface="Inter"/>
              </a:rPr>
              <a:t>OOMKilled · Clarification</a:t>
            </a:r>
          </a:p>
        </p:txBody>
      </p:sp>
      <p:sp>
        <p:nvSpPr>
          <p:cNvPr id="51" name="Rectangle 50"/>
          <p:cNvSpPr/>
          <p:nvPr/>
        </p:nvSpPr>
        <p:spPr>
          <a:xfrm>
            <a:off x="3291840" y="5897880"/>
            <a:ext cx="2743200" cy="685800"/>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29000" y="5961888"/>
            <a:ext cx="2468880" cy="274320"/>
          </a:xfrm>
          <a:prstGeom prst="rect">
            <a:avLst/>
          </a:prstGeom>
          <a:noFill/>
        </p:spPr>
        <p:txBody>
          <a:bodyPr wrap="square">
            <a:spAutoFit/>
          </a:bodyPr>
          <a:lstStyle/>
          <a:p>
            <a:pPr algn="l"/>
            <a:r>
              <a:rPr sz="1050" b="1">
                <a:solidFill>
                  <a:srgbClr val="E6EDF3"/>
                </a:solidFill>
                <a:latin typeface="Inter"/>
              </a:rPr>
              <a:t>🐘 DB Pool</a:t>
            </a:r>
          </a:p>
        </p:txBody>
      </p:sp>
      <p:sp>
        <p:nvSpPr>
          <p:cNvPr id="53" name="TextBox 52"/>
          <p:cNvSpPr txBox="1"/>
          <p:nvPr/>
        </p:nvSpPr>
        <p:spPr>
          <a:xfrm>
            <a:off x="3429000" y="6236208"/>
            <a:ext cx="2468880" cy="256032"/>
          </a:xfrm>
          <a:prstGeom prst="rect">
            <a:avLst/>
          </a:prstGeom>
          <a:noFill/>
        </p:spPr>
        <p:txBody>
          <a:bodyPr wrap="square">
            <a:spAutoFit/>
          </a:bodyPr>
          <a:lstStyle/>
          <a:p>
            <a:pPr algn="l"/>
            <a:r>
              <a:rPr sz="900" b="0">
                <a:solidFill>
                  <a:srgbClr val="8B949E"/>
                </a:solidFill>
                <a:latin typeface="Inter"/>
              </a:rPr>
              <a:t>Connection exhaustion</a:t>
            </a:r>
          </a:p>
        </p:txBody>
      </p:sp>
      <p:sp>
        <p:nvSpPr>
          <p:cNvPr id="54" name="Rectangle 53"/>
          <p:cNvSpPr/>
          <p:nvPr/>
        </p:nvSpPr>
        <p:spPr>
          <a:xfrm>
            <a:off x="6126480" y="5897880"/>
            <a:ext cx="2743200" cy="685800"/>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63640" y="5961888"/>
            <a:ext cx="2468880" cy="274320"/>
          </a:xfrm>
          <a:prstGeom prst="rect">
            <a:avLst/>
          </a:prstGeom>
          <a:noFill/>
        </p:spPr>
        <p:txBody>
          <a:bodyPr wrap="square">
            <a:spAutoFit/>
          </a:bodyPr>
          <a:lstStyle/>
          <a:p>
            <a:pPr algn="l"/>
            <a:r>
              <a:rPr sz="1050" b="1">
                <a:solidFill>
                  <a:srgbClr val="E6EDF3"/>
                </a:solidFill>
                <a:latin typeface="Inter"/>
              </a:rPr>
              <a:t>🔌 VPN Flap</a:t>
            </a:r>
          </a:p>
        </p:txBody>
      </p:sp>
      <p:sp>
        <p:nvSpPr>
          <p:cNvPr id="56" name="TextBox 55"/>
          <p:cNvSpPr txBox="1"/>
          <p:nvPr/>
        </p:nvSpPr>
        <p:spPr>
          <a:xfrm>
            <a:off x="6263640" y="6236208"/>
            <a:ext cx="2468880" cy="256032"/>
          </a:xfrm>
          <a:prstGeom prst="rect">
            <a:avLst/>
          </a:prstGeom>
          <a:noFill/>
        </p:spPr>
        <p:txBody>
          <a:bodyPr wrap="square">
            <a:spAutoFit/>
          </a:bodyPr>
          <a:lstStyle/>
          <a:p>
            <a:pPr algn="l"/>
            <a:r>
              <a:rPr sz="900" b="0">
                <a:solidFill>
                  <a:srgbClr val="8B949E"/>
                </a:solidFill>
                <a:latin typeface="Inter"/>
              </a:rPr>
              <a:t>IKE phase 2 mismatch</a:t>
            </a:r>
          </a:p>
        </p:txBody>
      </p:sp>
      <p:sp>
        <p:nvSpPr>
          <p:cNvPr id="57" name="Rectangle 56"/>
          <p:cNvSpPr/>
          <p:nvPr/>
        </p:nvSpPr>
        <p:spPr>
          <a:xfrm>
            <a:off x="8961120" y="5897880"/>
            <a:ext cx="2743200" cy="685800"/>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98280" y="5961888"/>
            <a:ext cx="2468880" cy="274320"/>
          </a:xfrm>
          <a:prstGeom prst="rect">
            <a:avLst/>
          </a:prstGeom>
          <a:noFill/>
        </p:spPr>
        <p:txBody>
          <a:bodyPr wrap="square">
            <a:spAutoFit/>
          </a:bodyPr>
          <a:lstStyle/>
          <a:p>
            <a:pPr algn="l"/>
            <a:r>
              <a:rPr sz="1050" b="1">
                <a:solidFill>
                  <a:srgbClr val="E6EDF3"/>
                </a:solidFill>
                <a:latin typeface="Inter"/>
              </a:rPr>
              <a:t>🔒 SSL Expiry</a:t>
            </a:r>
          </a:p>
        </p:txBody>
      </p:sp>
      <p:sp>
        <p:nvSpPr>
          <p:cNvPr id="59" name="TextBox 58"/>
          <p:cNvSpPr txBox="1"/>
          <p:nvPr/>
        </p:nvSpPr>
        <p:spPr>
          <a:xfrm>
            <a:off x="9098280" y="6236208"/>
            <a:ext cx="2468880" cy="256032"/>
          </a:xfrm>
          <a:prstGeom prst="rect">
            <a:avLst/>
          </a:prstGeom>
          <a:noFill/>
        </p:spPr>
        <p:txBody>
          <a:bodyPr wrap="square">
            <a:spAutoFit/>
          </a:bodyPr>
          <a:lstStyle/>
          <a:p>
            <a:pPr algn="l"/>
            <a:r>
              <a:rPr sz="900" b="0">
                <a:solidFill>
                  <a:srgbClr val="8B949E"/>
                </a:solidFill>
                <a:latin typeface="Inter"/>
              </a:rPr>
              <a:t>Auto-renewal failure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Architecture</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08</a:t>
            </a:r>
          </a:p>
        </p:txBody>
      </p:sp>
      <p:sp>
        <p:nvSpPr>
          <p:cNvPr id="5" name="Rectangle 4"/>
          <p:cNvSpPr/>
          <p:nvPr/>
        </p:nvSpPr>
        <p:spPr>
          <a:xfrm>
            <a:off x="457200" y="1051560"/>
            <a:ext cx="8686800" cy="960120"/>
          </a:xfrm>
          <a:prstGeom prst="rect">
            <a:avLst/>
          </a:prstGeom>
          <a:solidFill>
            <a:srgbClr val="07212E"/>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06424"/>
            <a:ext cx="8321040" cy="347472"/>
          </a:xfrm>
          <a:prstGeom prst="rect">
            <a:avLst/>
          </a:prstGeom>
          <a:noFill/>
        </p:spPr>
        <p:txBody>
          <a:bodyPr wrap="square">
            <a:spAutoFit/>
          </a:bodyPr>
          <a:lstStyle/>
          <a:p>
            <a:pPr algn="l"/>
            <a:r>
              <a:rPr sz="1100" b="1">
                <a:solidFill>
                  <a:srgbClr val="38BDF8"/>
                </a:solidFill>
                <a:latin typeface="Inter"/>
              </a:rPr>
              <a:t>Browser · React 18 + TypeScript</a:t>
            </a:r>
          </a:p>
        </p:txBody>
      </p:sp>
      <p:sp>
        <p:nvSpPr>
          <p:cNvPr id="7" name="TextBox 6"/>
          <p:cNvSpPr txBox="1"/>
          <p:nvPr/>
        </p:nvSpPr>
        <p:spPr>
          <a:xfrm>
            <a:off x="640080" y="1472184"/>
            <a:ext cx="8321040" cy="502920"/>
          </a:xfrm>
          <a:prstGeom prst="rect">
            <a:avLst/>
          </a:prstGeom>
          <a:noFill/>
        </p:spPr>
        <p:txBody>
          <a:bodyPr wrap="square">
            <a:spAutoFit/>
          </a:bodyPr>
          <a:lstStyle/>
          <a:p>
            <a:pPr algn="l"/>
            <a:r>
              <a:rPr sz="950" b="0">
                <a:solidFill>
                  <a:srgbClr val="8B949E"/>
                </a:solidFill>
                <a:latin typeface="Inter"/>
              </a:rPr>
              <a:t>EventSource SSE · fetch · Budget Gauge · Plan History · Compaction Banners</a:t>
            </a:r>
          </a:p>
        </p:txBody>
      </p:sp>
      <p:sp>
        <p:nvSpPr>
          <p:cNvPr id="8" name="TextBox 7"/>
          <p:cNvSpPr txBox="1"/>
          <p:nvPr/>
        </p:nvSpPr>
        <p:spPr>
          <a:xfrm>
            <a:off x="4297680" y="2039112"/>
            <a:ext cx="457200" cy="320040"/>
          </a:xfrm>
          <a:prstGeom prst="rect">
            <a:avLst/>
          </a:prstGeom>
          <a:noFill/>
        </p:spPr>
        <p:txBody>
          <a:bodyPr wrap="square">
            <a:spAutoFit/>
          </a:bodyPr>
          <a:lstStyle/>
          <a:p>
            <a:pPr algn="ctr"/>
            <a:r>
              <a:rPr sz="1400" b="0">
                <a:solidFill>
                  <a:srgbClr val="38BDF8"/>
                </a:solidFill>
                <a:latin typeface="Inter"/>
              </a:rPr>
              <a:t>↓</a:t>
            </a:r>
          </a:p>
        </p:txBody>
      </p:sp>
      <p:sp>
        <p:nvSpPr>
          <p:cNvPr id="9" name="Rectangle 8"/>
          <p:cNvSpPr/>
          <p:nvPr/>
        </p:nvSpPr>
        <p:spPr>
          <a:xfrm>
            <a:off x="457200" y="2286000"/>
            <a:ext cx="8686800" cy="960120"/>
          </a:xfrm>
          <a:prstGeom prst="rect">
            <a:avLst/>
          </a:prstGeom>
          <a:solidFill>
            <a:srgbClr val="2C0814"/>
          </a:solidFill>
          <a:ln w="9525">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40864"/>
            <a:ext cx="8321040" cy="347472"/>
          </a:xfrm>
          <a:prstGeom prst="rect">
            <a:avLst/>
          </a:prstGeom>
          <a:noFill/>
        </p:spPr>
        <p:txBody>
          <a:bodyPr wrap="square">
            <a:spAutoFit/>
          </a:bodyPr>
          <a:lstStyle/>
          <a:p>
            <a:pPr algn="l"/>
            <a:r>
              <a:rPr sz="1100" b="1">
                <a:solidFill>
                  <a:srgbClr val="FB7185"/>
                </a:solidFill>
                <a:latin typeface="Inter"/>
              </a:rPr>
              <a:t>SREDemo Backend · FastAPI + Python 3.13</a:t>
            </a:r>
          </a:p>
        </p:txBody>
      </p:sp>
      <p:sp>
        <p:nvSpPr>
          <p:cNvPr id="11" name="TextBox 10"/>
          <p:cNvSpPr txBox="1"/>
          <p:nvPr/>
        </p:nvSpPr>
        <p:spPr>
          <a:xfrm>
            <a:off x="640080" y="2706624"/>
            <a:ext cx="8321040" cy="502920"/>
          </a:xfrm>
          <a:prstGeom prst="rect">
            <a:avLst/>
          </a:prstGeom>
          <a:noFill/>
        </p:spPr>
        <p:txBody>
          <a:bodyPr wrap="square">
            <a:spAutoFit/>
          </a:bodyPr>
          <a:lstStyle/>
          <a:p>
            <a:pPr algn="l"/>
            <a:r>
              <a:rPr sz="950" b="0">
                <a:solidFill>
                  <a:srgbClr val="8B949E"/>
                </a:solidFill>
                <a:latin typeface="Inter"/>
              </a:rPr>
              <a:t>asyncio.Queue per session · Script dispatch · Plan History store · SSE stream</a:t>
            </a:r>
          </a:p>
        </p:txBody>
      </p:sp>
      <p:sp>
        <p:nvSpPr>
          <p:cNvPr id="12" name="TextBox 11"/>
          <p:cNvSpPr txBox="1"/>
          <p:nvPr/>
        </p:nvSpPr>
        <p:spPr>
          <a:xfrm>
            <a:off x="4297680" y="3273552"/>
            <a:ext cx="457200" cy="320040"/>
          </a:xfrm>
          <a:prstGeom prst="rect">
            <a:avLst/>
          </a:prstGeom>
          <a:noFill/>
        </p:spPr>
        <p:txBody>
          <a:bodyPr wrap="square">
            <a:spAutoFit/>
          </a:bodyPr>
          <a:lstStyle/>
          <a:p>
            <a:pPr algn="ctr"/>
            <a:r>
              <a:rPr sz="1400" b="0">
                <a:solidFill>
                  <a:srgbClr val="FB7185"/>
                </a:solidFill>
                <a:latin typeface="Inter"/>
              </a:rPr>
              <a:t>↓</a:t>
            </a:r>
          </a:p>
        </p:txBody>
      </p:sp>
      <p:sp>
        <p:nvSpPr>
          <p:cNvPr id="13" name="Rectangle 12"/>
          <p:cNvSpPr/>
          <p:nvPr/>
        </p:nvSpPr>
        <p:spPr>
          <a:xfrm>
            <a:off x="457200" y="3520440"/>
            <a:ext cx="8686800" cy="960120"/>
          </a:xfrm>
          <a:prstGeom prst="rect">
            <a:avLst/>
          </a:prstGeom>
          <a:solidFill>
            <a:srgbClr val="1E1045"/>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75304"/>
            <a:ext cx="8321040" cy="347472"/>
          </a:xfrm>
          <a:prstGeom prst="rect">
            <a:avLst/>
          </a:prstGeom>
          <a:noFill/>
        </p:spPr>
        <p:txBody>
          <a:bodyPr wrap="square">
            <a:spAutoFit/>
          </a:bodyPr>
          <a:lstStyle/>
          <a:p>
            <a:pPr algn="l"/>
            <a:r>
              <a:rPr sz="1100" b="1">
                <a:solidFill>
                  <a:srgbClr val="A78BFA"/>
                </a:solidFill>
                <a:latin typeface="Inter"/>
              </a:rPr>
              <a:t>AgentGateway · FastAPI + Python 3.13</a:t>
            </a:r>
          </a:p>
        </p:txBody>
      </p:sp>
      <p:sp>
        <p:nvSpPr>
          <p:cNvPr id="15" name="TextBox 14"/>
          <p:cNvSpPr txBox="1"/>
          <p:nvPr/>
        </p:nvSpPr>
        <p:spPr>
          <a:xfrm>
            <a:off x="640080" y="3941064"/>
            <a:ext cx="8321040" cy="502920"/>
          </a:xfrm>
          <a:prstGeom prst="rect">
            <a:avLst/>
          </a:prstGeom>
          <a:noFill/>
        </p:spPr>
        <p:txBody>
          <a:bodyPr wrap="square">
            <a:spAutoFit/>
          </a:bodyPr>
          <a:lstStyle/>
          <a:p>
            <a:pPr algn="l"/>
            <a:r>
              <a:rPr sz="950" b="0">
                <a:solidFill>
                  <a:srgbClr val="8B949E"/>
                </a:solidFill>
                <a:latin typeface="Inter"/>
              </a:rPr>
              <a:t>RS256 JWT verify · Session bind · Context budget · Sliding-window compaction · Model registry</a:t>
            </a:r>
          </a:p>
        </p:txBody>
      </p:sp>
      <p:sp>
        <p:nvSpPr>
          <p:cNvPr id="16" name="TextBox 15"/>
          <p:cNvSpPr txBox="1"/>
          <p:nvPr/>
        </p:nvSpPr>
        <p:spPr>
          <a:xfrm>
            <a:off x="4297680" y="4507992"/>
            <a:ext cx="457200" cy="320040"/>
          </a:xfrm>
          <a:prstGeom prst="rect">
            <a:avLst/>
          </a:prstGeom>
          <a:noFill/>
        </p:spPr>
        <p:txBody>
          <a:bodyPr wrap="square">
            <a:spAutoFit/>
          </a:bodyPr>
          <a:lstStyle/>
          <a:p>
            <a:pPr algn="ctr"/>
            <a:r>
              <a:rPr sz="1400" b="0">
                <a:solidFill>
                  <a:srgbClr val="A78BFA"/>
                </a:solidFill>
                <a:latin typeface="Inter"/>
              </a:rPr>
              <a:t>↓</a:t>
            </a:r>
          </a:p>
        </p:txBody>
      </p:sp>
      <p:sp>
        <p:nvSpPr>
          <p:cNvPr id="17" name="Rectangle 16"/>
          <p:cNvSpPr/>
          <p:nvPr/>
        </p:nvSpPr>
        <p:spPr>
          <a:xfrm>
            <a:off x="457200" y="4754880"/>
            <a:ext cx="8686800" cy="960120"/>
          </a:xfrm>
          <a:prstGeom prst="rect">
            <a:avLst/>
          </a:prstGeom>
          <a:solidFill>
            <a:srgbClr val="062A1E"/>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809744"/>
            <a:ext cx="8321040" cy="347472"/>
          </a:xfrm>
          <a:prstGeom prst="rect">
            <a:avLst/>
          </a:prstGeom>
          <a:noFill/>
        </p:spPr>
        <p:txBody>
          <a:bodyPr wrap="square">
            <a:spAutoFit/>
          </a:bodyPr>
          <a:lstStyle/>
          <a:p>
            <a:pPr algn="l"/>
            <a:r>
              <a:rPr sz="1100" b="1">
                <a:solidFill>
                  <a:srgbClr val="34D399"/>
                </a:solidFill>
                <a:latin typeface="Inter"/>
              </a:rPr>
              <a:t>AgentCore · LangGraph StateGraph</a:t>
            </a:r>
          </a:p>
        </p:txBody>
      </p:sp>
      <p:sp>
        <p:nvSpPr>
          <p:cNvPr id="19" name="TextBox 18"/>
          <p:cNvSpPr txBox="1"/>
          <p:nvPr/>
        </p:nvSpPr>
        <p:spPr>
          <a:xfrm>
            <a:off x="640080" y="5175504"/>
            <a:ext cx="8321040" cy="502920"/>
          </a:xfrm>
          <a:prstGeom prst="rect">
            <a:avLst/>
          </a:prstGeom>
          <a:noFill/>
        </p:spPr>
        <p:txBody>
          <a:bodyPr wrap="square">
            <a:spAutoFit/>
          </a:bodyPr>
          <a:lstStyle/>
          <a:p>
            <a:pPr algn="l"/>
            <a:r>
              <a:rPr sz="950" b="0">
                <a:solidFill>
                  <a:srgbClr val="8B949E"/>
                </a:solidFill>
                <a:latin typeface="Inter"/>
              </a:rPr>
              <a:t>9 nodes: intent → clarify → entities → plan → HITL → CoT → execute_step × N (parallel) → report
Send API fan-out · interrupt() gates · MemorySaver / PostgresSaver · 121 tests</a:t>
            </a:r>
          </a:p>
        </p:txBody>
      </p:sp>
      <p:sp>
        <p:nvSpPr>
          <p:cNvPr id="20" name="Rectangle 19"/>
          <p:cNvSpPr/>
          <p:nvPr/>
        </p:nvSpPr>
        <p:spPr>
          <a:xfrm>
            <a:off x="9372600" y="1051560"/>
            <a:ext cx="2377440" cy="21031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0" y="1115568"/>
            <a:ext cx="2103120" cy="320040"/>
          </a:xfrm>
          <a:prstGeom prst="rect">
            <a:avLst/>
          </a:prstGeom>
          <a:noFill/>
        </p:spPr>
        <p:txBody>
          <a:bodyPr wrap="square">
            <a:spAutoFit/>
          </a:bodyPr>
          <a:lstStyle/>
          <a:p>
            <a:pPr algn="l"/>
            <a:r>
              <a:rPr sz="1000" b="1">
                <a:solidFill>
                  <a:srgbClr val="22C55E"/>
                </a:solidFill>
                <a:latin typeface="Inter"/>
              </a:rPr>
              <a:t>AuthService</a:t>
            </a:r>
          </a:p>
        </p:txBody>
      </p:sp>
      <p:sp>
        <p:nvSpPr>
          <p:cNvPr id="22" name="TextBox 21"/>
          <p:cNvSpPr txBox="1"/>
          <p:nvPr/>
        </p:nvSpPr>
        <p:spPr>
          <a:xfrm>
            <a:off x="9509760" y="1444752"/>
            <a:ext cx="2103120" cy="685800"/>
          </a:xfrm>
          <a:prstGeom prst="rect">
            <a:avLst/>
          </a:prstGeom>
          <a:noFill/>
        </p:spPr>
        <p:txBody>
          <a:bodyPr wrap="square">
            <a:spAutoFit/>
          </a:bodyPr>
          <a:lstStyle/>
          <a:p>
            <a:pPr algn="l"/>
            <a:r>
              <a:rPr sz="900" b="0">
                <a:solidFill>
                  <a:srgbClr val="8B949E"/>
                </a:solidFill>
                <a:latin typeface="Inter"/>
              </a:rPr>
              <a:t>RS256 key generation
JWT issuance
JWKS endpoint</a:t>
            </a:r>
          </a:p>
        </p:txBody>
      </p:sp>
      <p:sp>
        <p:nvSpPr>
          <p:cNvPr id="23" name="Rectangle 22"/>
          <p:cNvSpPr/>
          <p:nvPr/>
        </p:nvSpPr>
        <p:spPr>
          <a:xfrm>
            <a:off x="9372600" y="3291840"/>
            <a:ext cx="2377440" cy="21031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3355848"/>
            <a:ext cx="2103120" cy="320040"/>
          </a:xfrm>
          <a:prstGeom prst="rect">
            <a:avLst/>
          </a:prstGeom>
          <a:noFill/>
        </p:spPr>
        <p:txBody>
          <a:bodyPr wrap="square">
            <a:spAutoFit/>
          </a:bodyPr>
          <a:lstStyle/>
          <a:p>
            <a:pPr algn="l"/>
            <a:r>
              <a:rPr sz="1000" b="1">
                <a:solidFill>
                  <a:srgbClr val="F59E0B"/>
                </a:solidFill>
                <a:latin typeface="Inter"/>
              </a:rPr>
              <a:t>RegistryService</a:t>
            </a:r>
          </a:p>
        </p:txBody>
      </p:sp>
      <p:sp>
        <p:nvSpPr>
          <p:cNvPr id="25" name="TextBox 24"/>
          <p:cNvSpPr txBox="1"/>
          <p:nvPr/>
        </p:nvSpPr>
        <p:spPr>
          <a:xfrm>
            <a:off x="9509760" y="3685032"/>
            <a:ext cx="2103120" cy="1371600"/>
          </a:xfrm>
          <a:prstGeom prst="rect">
            <a:avLst/>
          </a:prstGeom>
          <a:noFill/>
        </p:spPr>
        <p:txBody>
          <a:bodyPr wrap="square">
            <a:spAutoFit/>
          </a:bodyPr>
          <a:lstStyle/>
          <a:p>
            <a:pPr algn="l"/>
            <a:r>
              <a:rPr sz="900" b="0">
                <a:solidFill>
                  <a:srgbClr val="8B949E"/>
                </a:solidFill>
                <a:latin typeface="Inter"/>
              </a:rPr>
              <a:t>Schema Registry
Tool Registry
Playbook Registry
Versioned + Compat-checked
60s TTL client cache</a:t>
            </a:r>
          </a:p>
        </p:txBody>
      </p:sp>
      <p:sp>
        <p:nvSpPr>
          <p:cNvPr id="26" name="TextBox 25"/>
          <p:cNvSpPr txBox="1"/>
          <p:nvPr/>
        </p:nvSpPr>
        <p:spPr>
          <a:xfrm>
            <a:off x="457200" y="5532120"/>
            <a:ext cx="8686800" cy="365760"/>
          </a:xfrm>
          <a:prstGeom prst="rect">
            <a:avLst/>
          </a:prstGeom>
          <a:noFill/>
        </p:spPr>
        <p:txBody>
          <a:bodyPr wrap="square">
            <a:spAutoFit/>
          </a:bodyPr>
          <a:lstStyle/>
          <a:p>
            <a:pPr algn="l"/>
            <a:r>
              <a:rPr sz="1000" b="0">
                <a:solidFill>
                  <a:srgbClr val="8B949E"/>
                </a:solidFill>
                <a:latin typeface="Inter"/>
              </a:rPr>
              <a:t>Claude Sonnet 4.6 (orchestration) · Claude Opus 4.7 (CoT validation)</a:t>
            </a:r>
          </a:p>
        </p:txBody>
      </p:sp>
      <p:sp>
        <p:nvSpPr>
          <p:cNvPr id="27" name="Rectangle 26"/>
          <p:cNvSpPr/>
          <p:nvPr/>
        </p:nvSpPr>
        <p:spPr>
          <a:xfrm>
            <a:off x="457200" y="5989320"/>
            <a:ext cx="11274552" cy="685800"/>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080760"/>
            <a:ext cx="10881360" cy="457200"/>
          </a:xfrm>
          <a:prstGeom prst="rect">
            <a:avLst/>
          </a:prstGeom>
          <a:noFill/>
        </p:spPr>
        <p:txBody>
          <a:bodyPr wrap="square">
            <a:spAutoFit/>
          </a:bodyPr>
          <a:lstStyle/>
          <a:p>
            <a:pPr algn="ctr"/>
            <a:r>
              <a:rPr sz="900" b="0">
                <a:solidFill>
                  <a:srgbClr val="A78BFA"/>
                </a:solidFill>
                <a:latin typeface="Inter"/>
              </a:rPr>
              <a:t>extract_intent  →  [clarify]  →  extract_entities  →  plan  →  HITL  →  validate_cot  →  executor_router  →→  execute_step × N  →  report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The Moat</a:t>
            </a:r>
          </a:p>
        </p:txBody>
      </p:sp>
      <p:sp>
        <p:nvSpPr>
          <p:cNvPr id="4" name="TextBox 3"/>
          <p:cNvSpPr txBox="1"/>
          <p:nvPr/>
        </p:nvSpPr>
        <p:spPr>
          <a:xfrm>
            <a:off x="658368" y="868680"/>
            <a:ext cx="8229600" cy="411480"/>
          </a:xfrm>
          <a:prstGeom prst="rect">
            <a:avLst/>
          </a:prstGeom>
          <a:noFill/>
        </p:spPr>
        <p:txBody>
          <a:bodyPr wrap="square">
            <a:spAutoFit/>
          </a:bodyPr>
          <a:lstStyle/>
          <a:p>
            <a:pPr algn="l"/>
            <a:r>
              <a:rPr sz="1400" b="0">
                <a:solidFill>
                  <a:srgbClr val="A78BFA"/>
                </a:solidFill>
                <a:latin typeface="Inter"/>
              </a:rPr>
              <a:t>Compounding advantages that widen over time</a:t>
            </a:r>
          </a:p>
        </p:txBody>
      </p:sp>
      <p:sp>
        <p:nvSpPr>
          <p:cNvPr id="5" name="TextBox 4"/>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09</a:t>
            </a:r>
          </a:p>
        </p:txBody>
      </p:sp>
      <p:sp>
        <p:nvSpPr>
          <p:cNvPr id="6" name="Rectangle 5"/>
          <p:cNvSpPr/>
          <p:nvPr/>
        </p:nvSpPr>
        <p:spPr>
          <a:xfrm>
            <a:off x="457200" y="1371600"/>
            <a:ext cx="5669280"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73152" cy="1645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81328"/>
            <a:ext cx="5303520" cy="365760"/>
          </a:xfrm>
          <a:prstGeom prst="rect">
            <a:avLst/>
          </a:prstGeom>
          <a:noFill/>
        </p:spPr>
        <p:txBody>
          <a:bodyPr wrap="square">
            <a:spAutoFit/>
          </a:bodyPr>
          <a:lstStyle/>
          <a:p>
            <a:pPr algn="l"/>
            <a:r>
              <a:rPr sz="1200" b="1">
                <a:solidFill>
                  <a:srgbClr val="A78BFA"/>
                </a:solidFill>
                <a:latin typeface="Inter"/>
              </a:rPr>
              <a:t>📚 Plan Memory Compounds</a:t>
            </a:r>
          </a:p>
        </p:txBody>
      </p:sp>
      <p:sp>
        <p:nvSpPr>
          <p:cNvPr id="9" name="TextBox 8"/>
          <p:cNvSpPr txBox="1"/>
          <p:nvPr/>
        </p:nvSpPr>
        <p:spPr>
          <a:xfrm>
            <a:off x="640080" y="1874519"/>
            <a:ext cx="5303520" cy="1005840"/>
          </a:xfrm>
          <a:prstGeom prst="rect">
            <a:avLst/>
          </a:prstGeom>
          <a:noFill/>
        </p:spPr>
        <p:txBody>
          <a:bodyPr wrap="square">
            <a:spAutoFit/>
          </a:bodyPr>
          <a:lstStyle/>
          <a:p>
            <a:pPr algn="l"/>
            <a:r>
              <a:rPr sz="1000" b="0">
                <a:solidFill>
                  <a:srgbClr val="8B949E"/>
                </a:solidFill>
                <a:latin typeface="Inter"/>
              </a:rPr>
              <a:t>Every incident resolution → few-shot library. The agent improves on your specific infrastructure without retraining. Competitors can't copy years of encoded patterns.</a:t>
            </a:r>
          </a:p>
        </p:txBody>
      </p:sp>
      <p:sp>
        <p:nvSpPr>
          <p:cNvPr id="10" name="Rectangle 9"/>
          <p:cNvSpPr/>
          <p:nvPr/>
        </p:nvSpPr>
        <p:spPr>
          <a:xfrm>
            <a:off x="6355080" y="1371600"/>
            <a:ext cx="5669280"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371600"/>
            <a:ext cx="73152" cy="1645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481328"/>
            <a:ext cx="5303520" cy="365760"/>
          </a:xfrm>
          <a:prstGeom prst="rect">
            <a:avLst/>
          </a:prstGeom>
          <a:noFill/>
        </p:spPr>
        <p:txBody>
          <a:bodyPr wrap="square">
            <a:spAutoFit/>
          </a:bodyPr>
          <a:lstStyle/>
          <a:p>
            <a:pPr algn="l"/>
            <a:r>
              <a:rPr sz="1200" b="1">
                <a:solidFill>
                  <a:srgbClr val="F59E0B"/>
                </a:solidFill>
                <a:latin typeface="Inter"/>
              </a:rPr>
              <a:t>🗂 RegistryService Compounds</a:t>
            </a:r>
          </a:p>
        </p:txBody>
      </p:sp>
      <p:sp>
        <p:nvSpPr>
          <p:cNvPr id="13" name="TextBox 12"/>
          <p:cNvSpPr txBox="1"/>
          <p:nvPr/>
        </p:nvSpPr>
        <p:spPr>
          <a:xfrm>
            <a:off x="6537960" y="1874519"/>
            <a:ext cx="5303520" cy="1005840"/>
          </a:xfrm>
          <a:prstGeom prst="rect">
            <a:avLst/>
          </a:prstGeom>
          <a:noFill/>
        </p:spPr>
        <p:txBody>
          <a:bodyPr wrap="square">
            <a:spAutoFit/>
          </a:bodyPr>
          <a:lstStyle/>
          <a:p>
            <a:pPr algn="l"/>
            <a:r>
              <a:rPr sz="1000" b="0">
                <a:solidFill>
                  <a:srgbClr val="8B949E"/>
                </a:solidFill>
                <a:latin typeface="Inter"/>
              </a:rPr>
              <a:t>Every domain team registers their schemas, tools, playbooks. New LLM sees all of it immediately. Accumulated domain knowledge is not copyable.</a:t>
            </a:r>
          </a:p>
        </p:txBody>
      </p:sp>
      <p:sp>
        <p:nvSpPr>
          <p:cNvPr id="14" name="Rectangle 13"/>
          <p:cNvSpPr/>
          <p:nvPr/>
        </p:nvSpPr>
        <p:spPr>
          <a:xfrm>
            <a:off x="457200" y="3154680"/>
            <a:ext cx="5669280"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154680"/>
            <a:ext cx="73152" cy="1645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4408"/>
            <a:ext cx="5303520" cy="365760"/>
          </a:xfrm>
          <a:prstGeom prst="rect">
            <a:avLst/>
          </a:prstGeom>
          <a:noFill/>
        </p:spPr>
        <p:txBody>
          <a:bodyPr wrap="square">
            <a:spAutoFit/>
          </a:bodyPr>
          <a:lstStyle/>
          <a:p>
            <a:pPr algn="l"/>
            <a:r>
              <a:rPr sz="1200" b="1">
                <a:solidFill>
                  <a:srgbClr val="22C55E"/>
                </a:solidFill>
                <a:latin typeface="Inter"/>
              </a:rPr>
              <a:t>✅ HITL as Compliance Artifact</a:t>
            </a:r>
          </a:p>
        </p:txBody>
      </p:sp>
      <p:sp>
        <p:nvSpPr>
          <p:cNvPr id="17" name="TextBox 16"/>
          <p:cNvSpPr txBox="1"/>
          <p:nvPr/>
        </p:nvSpPr>
        <p:spPr>
          <a:xfrm>
            <a:off x="640080" y="3657600"/>
            <a:ext cx="5303520" cy="1005840"/>
          </a:xfrm>
          <a:prstGeom prst="rect">
            <a:avLst/>
          </a:prstGeom>
          <a:noFill/>
        </p:spPr>
        <p:txBody>
          <a:bodyPr wrap="square">
            <a:spAutoFit/>
          </a:bodyPr>
          <a:lstStyle/>
          <a:p>
            <a:pPr algn="l"/>
            <a:r>
              <a:rPr sz="1000" b="0">
                <a:solidFill>
                  <a:srgbClr val="8B949E"/>
                </a:solidFill>
                <a:latin typeface="Inter"/>
              </a:rPr>
              <a:t>Every change: human-approved, user-identity-timestamped. PCI-DSS / SOC2 / EU AI Act evidence is automatic, not retrofitted.</a:t>
            </a:r>
          </a:p>
        </p:txBody>
      </p:sp>
      <p:sp>
        <p:nvSpPr>
          <p:cNvPr id="18" name="Rectangle 17"/>
          <p:cNvSpPr/>
          <p:nvPr/>
        </p:nvSpPr>
        <p:spPr>
          <a:xfrm>
            <a:off x="6355080" y="3154680"/>
            <a:ext cx="5669280"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55080" y="3154680"/>
            <a:ext cx="73152" cy="16459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264408"/>
            <a:ext cx="5303520" cy="365760"/>
          </a:xfrm>
          <a:prstGeom prst="rect">
            <a:avLst/>
          </a:prstGeom>
          <a:noFill/>
        </p:spPr>
        <p:txBody>
          <a:bodyPr wrap="square">
            <a:spAutoFit/>
          </a:bodyPr>
          <a:lstStyle/>
          <a:p>
            <a:pPr algn="l"/>
            <a:r>
              <a:rPr sz="1200" b="1">
                <a:solidFill>
                  <a:srgbClr val="38BDF8"/>
                </a:solidFill>
                <a:latin typeface="Inter"/>
              </a:rPr>
              <a:t>🔐 Gateway as Enterprise Gate</a:t>
            </a:r>
          </a:p>
        </p:txBody>
      </p:sp>
      <p:sp>
        <p:nvSpPr>
          <p:cNvPr id="21" name="TextBox 20"/>
          <p:cNvSpPr txBox="1"/>
          <p:nvPr/>
        </p:nvSpPr>
        <p:spPr>
          <a:xfrm>
            <a:off x="6537960" y="3657600"/>
            <a:ext cx="5303520" cy="1005840"/>
          </a:xfrm>
          <a:prstGeom prst="rect">
            <a:avLst/>
          </a:prstGeom>
          <a:noFill/>
        </p:spPr>
        <p:txBody>
          <a:bodyPr wrap="square">
            <a:spAutoFit/>
          </a:bodyPr>
          <a:lstStyle/>
          <a:p>
            <a:pPr algn="l"/>
            <a:r>
              <a:rPr sz="1000" b="0">
                <a:solidFill>
                  <a:srgbClr val="8B949E"/>
                </a:solidFill>
                <a:latin typeface="Inter"/>
              </a:rPr>
              <a:t>RS256 JWT + session binding + context budget = the layer a Fortune 500 CISO actually signs off on. No other framework ships this.</a:t>
            </a:r>
          </a:p>
        </p:txBody>
      </p:sp>
      <p:sp>
        <p:nvSpPr>
          <p:cNvPr id="22" name="Rectangle 21"/>
          <p:cNvSpPr/>
          <p:nvPr/>
        </p:nvSpPr>
        <p:spPr>
          <a:xfrm>
            <a:off x="457200" y="4937760"/>
            <a:ext cx="5669280"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937760"/>
            <a:ext cx="73152" cy="164592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047488"/>
            <a:ext cx="5303520" cy="365760"/>
          </a:xfrm>
          <a:prstGeom prst="rect">
            <a:avLst/>
          </a:prstGeom>
          <a:noFill/>
        </p:spPr>
        <p:txBody>
          <a:bodyPr wrap="square">
            <a:spAutoFit/>
          </a:bodyPr>
          <a:lstStyle/>
          <a:p>
            <a:pPr algn="l"/>
            <a:r>
              <a:rPr sz="1200" b="1">
                <a:solidFill>
                  <a:srgbClr val="FB7185"/>
                </a:solidFill>
                <a:latin typeface="Inter"/>
              </a:rPr>
              <a:t>🕸 DAG Safety</a:t>
            </a:r>
          </a:p>
        </p:txBody>
      </p:sp>
      <p:sp>
        <p:nvSpPr>
          <p:cNvPr id="25" name="TextBox 24"/>
          <p:cNvSpPr txBox="1"/>
          <p:nvPr/>
        </p:nvSpPr>
        <p:spPr>
          <a:xfrm>
            <a:off x="640080" y="5440680"/>
            <a:ext cx="5303520" cy="1005840"/>
          </a:xfrm>
          <a:prstGeom prst="rect">
            <a:avLst/>
          </a:prstGeom>
          <a:noFill/>
        </p:spPr>
        <p:txBody>
          <a:bodyPr wrap="square">
            <a:spAutoFit/>
          </a:bodyPr>
          <a:lstStyle/>
          <a:p>
            <a:pPr algn="l"/>
            <a:r>
              <a:rPr sz="1000" b="0">
                <a:solidFill>
                  <a:srgbClr val="8B949E"/>
                </a:solidFill>
                <a:latin typeface="Inter"/>
              </a:rPr>
              <a:t>Partial broken configs are structurally impossible. Dependencies enforced before execution. Playbook hard rules reject bad plans before any tool runs.</a:t>
            </a:r>
          </a:p>
        </p:txBody>
      </p:sp>
      <p:sp>
        <p:nvSpPr>
          <p:cNvPr id="26" name="Rectangle 25"/>
          <p:cNvSpPr/>
          <p:nvPr/>
        </p:nvSpPr>
        <p:spPr>
          <a:xfrm>
            <a:off x="6355080" y="4937760"/>
            <a:ext cx="5669280" cy="164592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5080" y="4937760"/>
            <a:ext cx="73152" cy="1645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5047488"/>
            <a:ext cx="5303520" cy="365760"/>
          </a:xfrm>
          <a:prstGeom prst="rect">
            <a:avLst/>
          </a:prstGeom>
          <a:noFill/>
        </p:spPr>
        <p:txBody>
          <a:bodyPr wrap="square">
            <a:spAutoFit/>
          </a:bodyPr>
          <a:lstStyle/>
          <a:p>
            <a:pPr algn="l"/>
            <a:r>
              <a:rPr sz="1200" b="1">
                <a:solidFill>
                  <a:srgbClr val="34D399"/>
                </a:solidFill>
                <a:latin typeface="Inter"/>
              </a:rPr>
              <a:t>📏 Horizontal Scale</a:t>
            </a:r>
          </a:p>
        </p:txBody>
      </p:sp>
      <p:sp>
        <p:nvSpPr>
          <p:cNvPr id="29" name="TextBox 28"/>
          <p:cNvSpPr txBox="1"/>
          <p:nvPr/>
        </p:nvSpPr>
        <p:spPr>
          <a:xfrm>
            <a:off x="6537960" y="5440680"/>
            <a:ext cx="5303520" cy="1005840"/>
          </a:xfrm>
          <a:prstGeom prst="rect">
            <a:avLst/>
          </a:prstGeom>
          <a:noFill/>
        </p:spPr>
        <p:txBody>
          <a:bodyPr wrap="square">
            <a:spAutoFit/>
          </a:bodyPr>
          <a:lstStyle/>
          <a:p>
            <a:pPr algn="l"/>
            <a:r>
              <a:rPr sz="1000" b="0">
                <a:solidFill>
                  <a:srgbClr val="8B949E"/>
                </a:solidFill>
                <a:latin typeface="Inter"/>
              </a:rPr>
              <a:t>DispatchAdapter pattern: swap Postgres → SQS → Pub/Sub with one env var, zero code changes. Scales to Fortune 500 without re-architecture.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Market Opportunity</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10</a:t>
            </a:r>
          </a:p>
        </p:txBody>
      </p:sp>
      <p:sp>
        <p:nvSpPr>
          <p:cNvPr id="5" name="Rectangle 4"/>
          <p:cNvSpPr/>
          <p:nvPr/>
        </p:nvSpPr>
        <p:spPr>
          <a:xfrm>
            <a:off x="457200" y="1051560"/>
            <a:ext cx="11274552" cy="1463040"/>
          </a:xfrm>
          <a:prstGeom prst="rect">
            <a:avLst/>
          </a:prstGeom>
          <a:solidFill>
            <a:srgbClr val="062A14"/>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10972800" cy="914400"/>
          </a:xfrm>
          <a:prstGeom prst="rect">
            <a:avLst/>
          </a:prstGeom>
          <a:noFill/>
        </p:spPr>
        <p:txBody>
          <a:bodyPr wrap="square">
            <a:spAutoFit/>
          </a:bodyPr>
          <a:lstStyle/>
          <a:p>
            <a:pPr algn="ctr"/>
            <a:r>
              <a:rPr sz="6400" b="1">
                <a:solidFill>
                  <a:srgbClr val="22C55E"/>
                </a:solidFill>
                <a:latin typeface="Inter"/>
              </a:rPr>
              <a:t>$15B+</a:t>
            </a:r>
          </a:p>
        </p:txBody>
      </p:sp>
      <p:sp>
        <p:nvSpPr>
          <p:cNvPr id="7" name="TextBox 6"/>
          <p:cNvSpPr txBox="1"/>
          <p:nvPr/>
        </p:nvSpPr>
        <p:spPr>
          <a:xfrm>
            <a:off x="640080" y="1920240"/>
            <a:ext cx="10972800" cy="411480"/>
          </a:xfrm>
          <a:prstGeom prst="rect">
            <a:avLst/>
          </a:prstGeom>
          <a:noFill/>
        </p:spPr>
        <p:txBody>
          <a:bodyPr wrap="square">
            <a:spAutoFit/>
          </a:bodyPr>
          <a:lstStyle/>
          <a:p>
            <a:pPr algn="ctr"/>
            <a:r>
              <a:rPr sz="1300" b="0">
                <a:solidFill>
                  <a:srgbClr val="8B949E"/>
                </a:solidFill>
                <a:latin typeface="Inter"/>
              </a:rPr>
              <a:t>annual incident resolution labour + downtime cost (primary TAM)</a:t>
            </a:r>
          </a:p>
        </p:txBody>
      </p:sp>
      <p:sp>
        <p:nvSpPr>
          <p:cNvPr id="8" name="Rectangle 7"/>
          <p:cNvSpPr/>
          <p:nvPr/>
        </p:nvSpPr>
        <p:spPr>
          <a:xfrm>
            <a:off x="457200" y="2606040"/>
            <a:ext cx="3749039" cy="3474720"/>
          </a:xfrm>
          <a:prstGeom prst="rect">
            <a:avLst/>
          </a:prstGeom>
          <a:solidFill>
            <a:srgbClr val="0D1117"/>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606040"/>
            <a:ext cx="3749039"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715768"/>
            <a:ext cx="914400" cy="237744"/>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734056"/>
            <a:ext cx="822960" cy="201168"/>
          </a:xfrm>
          <a:prstGeom prst="rect">
            <a:avLst/>
          </a:prstGeom>
          <a:noFill/>
        </p:spPr>
        <p:txBody>
          <a:bodyPr wrap="square">
            <a:spAutoFit/>
          </a:bodyPr>
          <a:lstStyle/>
          <a:p>
            <a:pPr algn="ctr"/>
            <a:r>
              <a:rPr sz="900" b="1">
                <a:solidFill>
                  <a:srgbClr val="22C55E"/>
                </a:solidFill>
                <a:latin typeface="Inter"/>
              </a:rPr>
              <a:t>Primary</a:t>
            </a:r>
          </a:p>
        </p:txBody>
      </p:sp>
      <p:sp>
        <p:nvSpPr>
          <p:cNvPr id="12" name="TextBox 11"/>
          <p:cNvSpPr txBox="1"/>
          <p:nvPr/>
        </p:nvSpPr>
        <p:spPr>
          <a:xfrm>
            <a:off x="1645920" y="2697480"/>
            <a:ext cx="2423160" cy="347472"/>
          </a:xfrm>
          <a:prstGeom prst="rect">
            <a:avLst/>
          </a:prstGeom>
          <a:noFill/>
        </p:spPr>
        <p:txBody>
          <a:bodyPr wrap="square">
            <a:spAutoFit/>
          </a:bodyPr>
          <a:lstStyle/>
          <a:p>
            <a:pPr algn="l"/>
            <a:r>
              <a:rPr sz="1100" b="1">
                <a:solidFill>
                  <a:srgbClr val="22C55E"/>
                </a:solidFill>
                <a:latin typeface="Inter"/>
              </a:rPr>
              <a:t>Enterprise SRE Automation</a:t>
            </a:r>
          </a:p>
        </p:txBody>
      </p:sp>
      <p:sp>
        <p:nvSpPr>
          <p:cNvPr id="13" name="TextBox 12"/>
          <p:cNvSpPr txBox="1"/>
          <p:nvPr/>
        </p:nvSpPr>
        <p:spPr>
          <a:xfrm>
            <a:off x="594360" y="3063240"/>
            <a:ext cx="3474720" cy="1371600"/>
          </a:xfrm>
          <a:prstGeom prst="rect">
            <a:avLst/>
          </a:prstGeom>
          <a:noFill/>
        </p:spPr>
        <p:txBody>
          <a:bodyPr wrap="square">
            <a:spAutoFit/>
          </a:bodyPr>
          <a:lstStyle/>
          <a:p>
            <a:pPr algn="l"/>
            <a:r>
              <a:rPr sz="1000" b="0">
                <a:solidFill>
                  <a:srgbClr val="8B949E"/>
                </a:solidFill>
                <a:latin typeface="Inter"/>
              </a:rPr>
              <a:t>33,000+ companies with dedicated SRE teams
12–40 P1 incidents/month · 40 min saved each
$5,600/min Gartner benchmark</a:t>
            </a:r>
          </a:p>
        </p:txBody>
      </p:sp>
      <p:sp>
        <p:nvSpPr>
          <p:cNvPr id="14" name="TextBox 13"/>
          <p:cNvSpPr txBox="1"/>
          <p:nvPr/>
        </p:nvSpPr>
        <p:spPr>
          <a:xfrm>
            <a:off x="594360" y="5074920"/>
            <a:ext cx="3474720" cy="548640"/>
          </a:xfrm>
          <a:prstGeom prst="rect">
            <a:avLst/>
          </a:prstGeom>
          <a:noFill/>
        </p:spPr>
        <p:txBody>
          <a:bodyPr wrap="square">
            <a:spAutoFit/>
          </a:bodyPr>
          <a:lstStyle/>
          <a:p>
            <a:pPr algn="ctr"/>
            <a:r>
              <a:rPr sz="2800" b="1">
                <a:solidFill>
                  <a:srgbClr val="22C55E"/>
                </a:solidFill>
                <a:latin typeface="Inter"/>
              </a:rPr>
              <a:t>$15B+</a:t>
            </a:r>
          </a:p>
        </p:txBody>
      </p:sp>
      <p:sp>
        <p:nvSpPr>
          <p:cNvPr id="15" name="Rectangle 14"/>
          <p:cNvSpPr/>
          <p:nvPr/>
        </p:nvSpPr>
        <p:spPr>
          <a:xfrm>
            <a:off x="4343400" y="2606040"/>
            <a:ext cx="3749039" cy="3474720"/>
          </a:xfrm>
          <a:prstGeom prst="rect">
            <a:avLst/>
          </a:prstGeom>
          <a:solidFill>
            <a:srgbClr val="0D1117"/>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606040"/>
            <a:ext cx="3749039" cy="54864"/>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715768"/>
            <a:ext cx="914400" cy="237744"/>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2734056"/>
            <a:ext cx="822960" cy="201168"/>
          </a:xfrm>
          <a:prstGeom prst="rect">
            <a:avLst/>
          </a:prstGeom>
          <a:noFill/>
        </p:spPr>
        <p:txBody>
          <a:bodyPr wrap="square">
            <a:spAutoFit/>
          </a:bodyPr>
          <a:lstStyle/>
          <a:p>
            <a:pPr algn="ctr"/>
            <a:r>
              <a:rPr sz="900" b="1">
                <a:solidFill>
                  <a:srgbClr val="A78BFA"/>
                </a:solidFill>
                <a:latin typeface="Inter"/>
              </a:rPr>
              <a:t>Secondary</a:t>
            </a:r>
          </a:p>
        </p:txBody>
      </p:sp>
      <p:sp>
        <p:nvSpPr>
          <p:cNvPr id="19" name="TextBox 18"/>
          <p:cNvSpPr txBox="1"/>
          <p:nvPr/>
        </p:nvSpPr>
        <p:spPr>
          <a:xfrm>
            <a:off x="5532120" y="2697480"/>
            <a:ext cx="2423160" cy="347472"/>
          </a:xfrm>
          <a:prstGeom prst="rect">
            <a:avLst/>
          </a:prstGeom>
          <a:noFill/>
        </p:spPr>
        <p:txBody>
          <a:bodyPr wrap="square">
            <a:spAutoFit/>
          </a:bodyPr>
          <a:lstStyle/>
          <a:p>
            <a:pPr algn="l"/>
            <a:r>
              <a:rPr sz="1100" b="1">
                <a:solidFill>
                  <a:srgbClr val="A78BFA"/>
                </a:solidFill>
                <a:latin typeface="Inter"/>
              </a:rPr>
              <a:t>MSP Platform</a:t>
            </a:r>
          </a:p>
        </p:txBody>
      </p:sp>
      <p:sp>
        <p:nvSpPr>
          <p:cNvPr id="20" name="TextBox 19"/>
          <p:cNvSpPr txBox="1"/>
          <p:nvPr/>
        </p:nvSpPr>
        <p:spPr>
          <a:xfrm>
            <a:off x="4480560" y="3063240"/>
            <a:ext cx="3474720" cy="1371600"/>
          </a:xfrm>
          <a:prstGeom prst="rect">
            <a:avLst/>
          </a:prstGeom>
          <a:noFill/>
        </p:spPr>
        <p:txBody>
          <a:bodyPr wrap="square">
            <a:spAutoFit/>
          </a:bodyPr>
          <a:lstStyle/>
          <a:p>
            <a:pPr algn="l"/>
            <a:r>
              <a:rPr sz="1000" b="0">
                <a:solidFill>
                  <a:srgbClr val="8B949E"/>
                </a:solidFill>
                <a:latin typeface="Inter"/>
              </a:rPr>
              <a:t>One engineer manages 10× more environments
White-label per-site licence
Agent drafts · engineer approves</a:t>
            </a:r>
          </a:p>
        </p:txBody>
      </p:sp>
      <p:sp>
        <p:nvSpPr>
          <p:cNvPr id="21" name="TextBox 20"/>
          <p:cNvSpPr txBox="1"/>
          <p:nvPr/>
        </p:nvSpPr>
        <p:spPr>
          <a:xfrm>
            <a:off x="4480560" y="5074920"/>
            <a:ext cx="3474720" cy="548640"/>
          </a:xfrm>
          <a:prstGeom prst="rect">
            <a:avLst/>
          </a:prstGeom>
          <a:noFill/>
        </p:spPr>
        <p:txBody>
          <a:bodyPr wrap="square">
            <a:spAutoFit/>
          </a:bodyPr>
          <a:lstStyle/>
          <a:p>
            <a:pPr algn="ctr"/>
            <a:r>
              <a:rPr sz="2800" b="1">
                <a:solidFill>
                  <a:srgbClr val="A78BFA"/>
                </a:solidFill>
                <a:latin typeface="Inter"/>
              </a:rPr>
              <a:t>$3B+</a:t>
            </a:r>
          </a:p>
        </p:txBody>
      </p:sp>
      <p:sp>
        <p:nvSpPr>
          <p:cNvPr id="22" name="Rectangle 21"/>
          <p:cNvSpPr/>
          <p:nvPr/>
        </p:nvSpPr>
        <p:spPr>
          <a:xfrm>
            <a:off x="8229600" y="2606040"/>
            <a:ext cx="3749039" cy="3474720"/>
          </a:xfrm>
          <a:prstGeom prst="rect">
            <a:avLst/>
          </a:prstGeom>
          <a:solidFill>
            <a:srgbClr val="0D111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2606040"/>
            <a:ext cx="3749039"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66760" y="2715768"/>
            <a:ext cx="914400" cy="237744"/>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2734056"/>
            <a:ext cx="822960" cy="201168"/>
          </a:xfrm>
          <a:prstGeom prst="rect">
            <a:avLst/>
          </a:prstGeom>
          <a:noFill/>
        </p:spPr>
        <p:txBody>
          <a:bodyPr wrap="square">
            <a:spAutoFit/>
          </a:bodyPr>
          <a:lstStyle/>
          <a:p>
            <a:pPr algn="ctr"/>
            <a:r>
              <a:rPr sz="900" b="1">
                <a:solidFill>
                  <a:srgbClr val="F59E0B"/>
                </a:solidFill>
                <a:latin typeface="Inter"/>
              </a:rPr>
              <a:t>Tertiary</a:t>
            </a:r>
          </a:p>
        </p:txBody>
      </p:sp>
      <p:sp>
        <p:nvSpPr>
          <p:cNvPr id="26" name="TextBox 25"/>
          <p:cNvSpPr txBox="1"/>
          <p:nvPr/>
        </p:nvSpPr>
        <p:spPr>
          <a:xfrm>
            <a:off x="9418320" y="2697480"/>
            <a:ext cx="2423160" cy="347472"/>
          </a:xfrm>
          <a:prstGeom prst="rect">
            <a:avLst/>
          </a:prstGeom>
          <a:noFill/>
        </p:spPr>
        <p:txBody>
          <a:bodyPr wrap="square">
            <a:spAutoFit/>
          </a:bodyPr>
          <a:lstStyle/>
          <a:p>
            <a:pPr algn="l"/>
            <a:r>
              <a:rPr sz="1100" b="1">
                <a:solidFill>
                  <a:srgbClr val="F59E0B"/>
                </a:solidFill>
                <a:latin typeface="Inter"/>
              </a:rPr>
              <a:t>Compliance Verticals</a:t>
            </a:r>
          </a:p>
        </p:txBody>
      </p:sp>
      <p:sp>
        <p:nvSpPr>
          <p:cNvPr id="27" name="TextBox 26"/>
          <p:cNvSpPr txBox="1"/>
          <p:nvPr/>
        </p:nvSpPr>
        <p:spPr>
          <a:xfrm>
            <a:off x="8366760" y="3063240"/>
            <a:ext cx="3474720" cy="1371600"/>
          </a:xfrm>
          <a:prstGeom prst="rect">
            <a:avLst/>
          </a:prstGeom>
          <a:noFill/>
        </p:spPr>
        <p:txBody>
          <a:bodyPr wrap="square">
            <a:spAutoFit/>
          </a:bodyPr>
          <a:lstStyle/>
          <a:p>
            <a:pPr algn="l"/>
            <a:r>
              <a:rPr sz="1000" b="0">
                <a:solidFill>
                  <a:srgbClr val="8B949E"/>
                </a:solidFill>
                <a:latin typeface="Inter"/>
              </a:rPr>
              <a:t>Same framework · different playbooks
HIPAA · PCI-DSS · SOX · zero core changes
New domain = new registry entries only</a:t>
            </a:r>
          </a:p>
        </p:txBody>
      </p:sp>
      <p:sp>
        <p:nvSpPr>
          <p:cNvPr id="28" name="TextBox 27"/>
          <p:cNvSpPr txBox="1"/>
          <p:nvPr/>
        </p:nvSpPr>
        <p:spPr>
          <a:xfrm>
            <a:off x="8366760" y="5074920"/>
            <a:ext cx="3474720" cy="548640"/>
          </a:xfrm>
          <a:prstGeom prst="rect">
            <a:avLst/>
          </a:prstGeom>
          <a:noFill/>
        </p:spPr>
        <p:txBody>
          <a:bodyPr wrap="square">
            <a:spAutoFit/>
          </a:bodyPr>
          <a:lstStyle/>
          <a:p>
            <a:pPr algn="ctr"/>
            <a:r>
              <a:rPr sz="2800" b="1">
                <a:solidFill>
                  <a:srgbClr val="F59E0B"/>
                </a:solidFill>
                <a:latin typeface="Inter"/>
              </a:rPr>
              <a:t>$2B+</a:t>
            </a:r>
          </a:p>
        </p:txBody>
      </p:sp>
      <p:sp>
        <p:nvSpPr>
          <p:cNvPr id="29" name="TextBox 28"/>
          <p:cNvSpPr txBox="1"/>
          <p:nvPr/>
        </p:nvSpPr>
        <p:spPr>
          <a:xfrm>
            <a:off x="457200" y="6309360"/>
            <a:ext cx="11274552" cy="411480"/>
          </a:xfrm>
          <a:prstGeom prst="rect">
            <a:avLst/>
          </a:prstGeom>
          <a:noFill/>
        </p:spPr>
        <p:txBody>
          <a:bodyPr wrap="square">
            <a:spAutoFit/>
          </a:bodyPr>
          <a:lstStyle/>
          <a:p>
            <a:pPr algn="ctr"/>
            <a:r>
              <a:rPr sz="1200" b="1">
                <a:solidFill>
                  <a:srgbClr val="E6EDF3"/>
                </a:solidFill>
                <a:latin typeface="Inter"/>
              </a:rPr>
              <a:t>Conservative penetration: 2% of primary TAM at $2K/month = $60M ARR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Traction &amp; Proof Points</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11</a:t>
            </a:r>
          </a:p>
        </p:txBody>
      </p:sp>
      <p:sp>
        <p:nvSpPr>
          <p:cNvPr id="5" name="Rectangle 4"/>
          <p:cNvSpPr/>
          <p:nvPr/>
        </p:nvSpPr>
        <p:spPr>
          <a:xfrm>
            <a:off x="457200" y="1115568"/>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25295"/>
            <a:ext cx="411480" cy="347472"/>
          </a:xfrm>
          <a:prstGeom prst="rect">
            <a:avLst/>
          </a:prstGeom>
          <a:noFill/>
        </p:spPr>
        <p:txBody>
          <a:bodyPr wrap="square">
            <a:spAutoFit/>
          </a:bodyPr>
          <a:lstStyle/>
          <a:p>
            <a:pPr algn="l"/>
            <a:r>
              <a:rPr sz="1400" b="0">
                <a:solidFill>
                  <a:srgbClr val="22C55E"/>
                </a:solidFill>
                <a:latin typeface="Inter"/>
              </a:rPr>
              <a:t>✅</a:t>
            </a:r>
          </a:p>
        </p:txBody>
      </p:sp>
      <p:sp>
        <p:nvSpPr>
          <p:cNvPr id="7" name="TextBox 6"/>
          <p:cNvSpPr txBox="1"/>
          <p:nvPr/>
        </p:nvSpPr>
        <p:spPr>
          <a:xfrm>
            <a:off x="1097280" y="1225295"/>
            <a:ext cx="2103120" cy="347472"/>
          </a:xfrm>
          <a:prstGeom prst="rect">
            <a:avLst/>
          </a:prstGeom>
          <a:noFill/>
        </p:spPr>
        <p:txBody>
          <a:bodyPr wrap="square">
            <a:spAutoFit/>
          </a:bodyPr>
          <a:lstStyle/>
          <a:p>
            <a:pPr algn="l"/>
            <a:r>
              <a:rPr sz="1100" b="1">
                <a:solidFill>
                  <a:srgbClr val="22C55E"/>
                </a:solidFill>
                <a:latin typeface="Inter"/>
              </a:rPr>
              <a:t>AgentCore</a:t>
            </a:r>
          </a:p>
        </p:txBody>
      </p:sp>
      <p:sp>
        <p:nvSpPr>
          <p:cNvPr id="8" name="TextBox 7"/>
          <p:cNvSpPr txBox="1"/>
          <p:nvPr/>
        </p:nvSpPr>
        <p:spPr>
          <a:xfrm>
            <a:off x="3337560" y="1225295"/>
            <a:ext cx="8183879" cy="384048"/>
          </a:xfrm>
          <a:prstGeom prst="rect">
            <a:avLst/>
          </a:prstGeom>
          <a:noFill/>
        </p:spPr>
        <p:txBody>
          <a:bodyPr wrap="square">
            <a:spAutoFit/>
          </a:bodyPr>
          <a:lstStyle/>
          <a:p>
            <a:pPr algn="l"/>
            <a:r>
              <a:rPr sz="1050" b="0">
                <a:solidFill>
                  <a:srgbClr val="8B949E"/>
                </a:solidFill>
                <a:latin typeface="Inter"/>
              </a:rPr>
              <a:t>121 tests, 0 failures, no live DB or LLM required to run the full test suite</a:t>
            </a:r>
          </a:p>
        </p:txBody>
      </p:sp>
      <p:sp>
        <p:nvSpPr>
          <p:cNvPr id="9" name="Rectangle 8"/>
          <p:cNvSpPr/>
          <p:nvPr/>
        </p:nvSpPr>
        <p:spPr>
          <a:xfrm>
            <a:off x="457200" y="1783080"/>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92807"/>
            <a:ext cx="411480" cy="347472"/>
          </a:xfrm>
          <a:prstGeom prst="rect">
            <a:avLst/>
          </a:prstGeom>
          <a:noFill/>
        </p:spPr>
        <p:txBody>
          <a:bodyPr wrap="square">
            <a:spAutoFit/>
          </a:bodyPr>
          <a:lstStyle/>
          <a:p>
            <a:pPr algn="l"/>
            <a:r>
              <a:rPr sz="1400" b="0">
                <a:solidFill>
                  <a:srgbClr val="22C55E"/>
                </a:solidFill>
                <a:latin typeface="Inter"/>
              </a:rPr>
              <a:t>✅</a:t>
            </a:r>
          </a:p>
        </p:txBody>
      </p:sp>
      <p:sp>
        <p:nvSpPr>
          <p:cNvPr id="11" name="TextBox 10"/>
          <p:cNvSpPr txBox="1"/>
          <p:nvPr/>
        </p:nvSpPr>
        <p:spPr>
          <a:xfrm>
            <a:off x="1097280" y="1892807"/>
            <a:ext cx="2103120" cy="347472"/>
          </a:xfrm>
          <a:prstGeom prst="rect">
            <a:avLst/>
          </a:prstGeom>
          <a:noFill/>
        </p:spPr>
        <p:txBody>
          <a:bodyPr wrap="square">
            <a:spAutoFit/>
          </a:bodyPr>
          <a:lstStyle/>
          <a:p>
            <a:pPr algn="l"/>
            <a:r>
              <a:rPr sz="1100" b="1">
                <a:solidFill>
                  <a:srgbClr val="22C55E"/>
                </a:solidFill>
                <a:latin typeface="Inter"/>
              </a:rPr>
              <a:t>AgentGateway</a:t>
            </a:r>
          </a:p>
        </p:txBody>
      </p:sp>
      <p:sp>
        <p:nvSpPr>
          <p:cNvPr id="12" name="TextBox 11"/>
          <p:cNvSpPr txBox="1"/>
          <p:nvPr/>
        </p:nvSpPr>
        <p:spPr>
          <a:xfrm>
            <a:off x="3337560" y="1892807"/>
            <a:ext cx="8183879" cy="384048"/>
          </a:xfrm>
          <a:prstGeom prst="rect">
            <a:avLst/>
          </a:prstGeom>
          <a:noFill/>
        </p:spPr>
        <p:txBody>
          <a:bodyPr wrap="square">
            <a:spAutoFit/>
          </a:bodyPr>
          <a:lstStyle/>
          <a:p>
            <a:pPr algn="l"/>
            <a:r>
              <a:rPr sz="1050" b="0">
                <a:solidFill>
                  <a:srgbClr val="8B949E"/>
                </a:solidFill>
                <a:latin typeface="Inter"/>
              </a:rPr>
              <a:t>JWT auth + session binding + context budget management shipped and tested</a:t>
            </a:r>
          </a:p>
        </p:txBody>
      </p:sp>
      <p:sp>
        <p:nvSpPr>
          <p:cNvPr id="13" name="Rectangle 12"/>
          <p:cNvSpPr/>
          <p:nvPr/>
        </p:nvSpPr>
        <p:spPr>
          <a:xfrm>
            <a:off x="457200" y="2450591"/>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560320"/>
            <a:ext cx="411480" cy="347472"/>
          </a:xfrm>
          <a:prstGeom prst="rect">
            <a:avLst/>
          </a:prstGeom>
          <a:noFill/>
        </p:spPr>
        <p:txBody>
          <a:bodyPr wrap="square">
            <a:spAutoFit/>
          </a:bodyPr>
          <a:lstStyle/>
          <a:p>
            <a:pPr algn="l"/>
            <a:r>
              <a:rPr sz="1400" b="0">
                <a:solidFill>
                  <a:srgbClr val="22C55E"/>
                </a:solidFill>
                <a:latin typeface="Inter"/>
              </a:rPr>
              <a:t>✅</a:t>
            </a:r>
          </a:p>
        </p:txBody>
      </p:sp>
      <p:sp>
        <p:nvSpPr>
          <p:cNvPr id="15" name="TextBox 14"/>
          <p:cNvSpPr txBox="1"/>
          <p:nvPr/>
        </p:nvSpPr>
        <p:spPr>
          <a:xfrm>
            <a:off x="1097280" y="2560320"/>
            <a:ext cx="2103120" cy="347472"/>
          </a:xfrm>
          <a:prstGeom prst="rect">
            <a:avLst/>
          </a:prstGeom>
          <a:noFill/>
        </p:spPr>
        <p:txBody>
          <a:bodyPr wrap="square">
            <a:spAutoFit/>
          </a:bodyPr>
          <a:lstStyle/>
          <a:p>
            <a:pPr algn="l"/>
            <a:r>
              <a:rPr sz="1100" b="1">
                <a:solidFill>
                  <a:srgbClr val="22C55E"/>
                </a:solidFill>
                <a:latin typeface="Inter"/>
              </a:rPr>
              <a:t>AuthService</a:t>
            </a:r>
          </a:p>
        </p:txBody>
      </p:sp>
      <p:sp>
        <p:nvSpPr>
          <p:cNvPr id="16" name="TextBox 15"/>
          <p:cNvSpPr txBox="1"/>
          <p:nvPr/>
        </p:nvSpPr>
        <p:spPr>
          <a:xfrm>
            <a:off x="3337560" y="2560320"/>
            <a:ext cx="8183879" cy="384048"/>
          </a:xfrm>
          <a:prstGeom prst="rect">
            <a:avLst/>
          </a:prstGeom>
          <a:noFill/>
        </p:spPr>
        <p:txBody>
          <a:bodyPr wrap="square">
            <a:spAutoFit/>
          </a:bodyPr>
          <a:lstStyle/>
          <a:p>
            <a:pPr algn="l"/>
            <a:r>
              <a:rPr sz="1050" b="0">
                <a:solidFill>
                  <a:srgbClr val="8B949E"/>
                </a:solidFill>
                <a:latin typeface="Inter"/>
              </a:rPr>
              <a:t>RS256 JWT issuance with JWKS endpoint — production-grade key rotation</a:t>
            </a:r>
          </a:p>
        </p:txBody>
      </p:sp>
      <p:sp>
        <p:nvSpPr>
          <p:cNvPr id="17" name="Rectangle 16"/>
          <p:cNvSpPr/>
          <p:nvPr/>
        </p:nvSpPr>
        <p:spPr>
          <a:xfrm>
            <a:off x="457200" y="3118103"/>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227832"/>
            <a:ext cx="411480" cy="347472"/>
          </a:xfrm>
          <a:prstGeom prst="rect">
            <a:avLst/>
          </a:prstGeom>
          <a:noFill/>
        </p:spPr>
        <p:txBody>
          <a:bodyPr wrap="square">
            <a:spAutoFit/>
          </a:bodyPr>
          <a:lstStyle/>
          <a:p>
            <a:pPr algn="l"/>
            <a:r>
              <a:rPr sz="1400" b="0">
                <a:solidFill>
                  <a:srgbClr val="22C55E"/>
                </a:solidFill>
                <a:latin typeface="Inter"/>
              </a:rPr>
              <a:t>✅</a:t>
            </a:r>
          </a:p>
        </p:txBody>
      </p:sp>
      <p:sp>
        <p:nvSpPr>
          <p:cNvPr id="19" name="TextBox 18"/>
          <p:cNvSpPr txBox="1"/>
          <p:nvPr/>
        </p:nvSpPr>
        <p:spPr>
          <a:xfrm>
            <a:off x="1097280" y="3227832"/>
            <a:ext cx="2103120" cy="347472"/>
          </a:xfrm>
          <a:prstGeom prst="rect">
            <a:avLst/>
          </a:prstGeom>
          <a:noFill/>
        </p:spPr>
        <p:txBody>
          <a:bodyPr wrap="square">
            <a:spAutoFit/>
          </a:bodyPr>
          <a:lstStyle/>
          <a:p>
            <a:pPr algn="l"/>
            <a:r>
              <a:rPr sz="1100" b="1">
                <a:solidFill>
                  <a:srgbClr val="22C55E"/>
                </a:solidFill>
                <a:latin typeface="Inter"/>
              </a:rPr>
              <a:t>Plan Memory</a:t>
            </a:r>
          </a:p>
        </p:txBody>
      </p:sp>
      <p:sp>
        <p:nvSpPr>
          <p:cNvPr id="20" name="TextBox 19"/>
          <p:cNvSpPr txBox="1"/>
          <p:nvPr/>
        </p:nvSpPr>
        <p:spPr>
          <a:xfrm>
            <a:off x="3337560" y="3227832"/>
            <a:ext cx="8183879" cy="384048"/>
          </a:xfrm>
          <a:prstGeom prst="rect">
            <a:avLst/>
          </a:prstGeom>
          <a:noFill/>
        </p:spPr>
        <p:txBody>
          <a:bodyPr wrap="square">
            <a:spAutoFit/>
          </a:bodyPr>
          <a:lstStyle/>
          <a:p>
            <a:pPr algn="l"/>
            <a:r>
              <a:rPr sz="1050" b="0">
                <a:solidFill>
                  <a:srgbClr val="8B949E"/>
                </a:solidFill>
                <a:latin typeface="Inter"/>
              </a:rPr>
              <a:t>Full feature implemented and demo'd: backend matching → SSE event → UI badge</a:t>
            </a:r>
          </a:p>
        </p:txBody>
      </p:sp>
      <p:sp>
        <p:nvSpPr>
          <p:cNvPr id="21" name="Rectangle 20"/>
          <p:cNvSpPr/>
          <p:nvPr/>
        </p:nvSpPr>
        <p:spPr>
          <a:xfrm>
            <a:off x="457200" y="3785615"/>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895344"/>
            <a:ext cx="411480" cy="347472"/>
          </a:xfrm>
          <a:prstGeom prst="rect">
            <a:avLst/>
          </a:prstGeom>
          <a:noFill/>
        </p:spPr>
        <p:txBody>
          <a:bodyPr wrap="square">
            <a:spAutoFit/>
          </a:bodyPr>
          <a:lstStyle/>
          <a:p>
            <a:pPr algn="l"/>
            <a:r>
              <a:rPr sz="1400" b="0">
                <a:solidFill>
                  <a:srgbClr val="22C55E"/>
                </a:solidFill>
                <a:latin typeface="Inter"/>
              </a:rPr>
              <a:t>✅</a:t>
            </a:r>
          </a:p>
        </p:txBody>
      </p:sp>
      <p:sp>
        <p:nvSpPr>
          <p:cNvPr id="23" name="TextBox 22"/>
          <p:cNvSpPr txBox="1"/>
          <p:nvPr/>
        </p:nvSpPr>
        <p:spPr>
          <a:xfrm>
            <a:off x="1097280" y="3895344"/>
            <a:ext cx="2103120" cy="347472"/>
          </a:xfrm>
          <a:prstGeom prst="rect">
            <a:avLst/>
          </a:prstGeom>
          <a:noFill/>
        </p:spPr>
        <p:txBody>
          <a:bodyPr wrap="square">
            <a:spAutoFit/>
          </a:bodyPr>
          <a:lstStyle/>
          <a:p>
            <a:pPr algn="l"/>
            <a:r>
              <a:rPr sz="1100" b="1">
                <a:solidFill>
                  <a:srgbClr val="22C55E"/>
                </a:solidFill>
                <a:latin typeface="Inter"/>
              </a:rPr>
              <a:t>React UI</a:t>
            </a:r>
          </a:p>
        </p:txBody>
      </p:sp>
      <p:sp>
        <p:nvSpPr>
          <p:cNvPr id="24" name="TextBox 23"/>
          <p:cNvSpPr txBox="1"/>
          <p:nvPr/>
        </p:nvSpPr>
        <p:spPr>
          <a:xfrm>
            <a:off x="3337560" y="3895344"/>
            <a:ext cx="8183879" cy="384048"/>
          </a:xfrm>
          <a:prstGeom prst="rect">
            <a:avLst/>
          </a:prstGeom>
          <a:noFill/>
        </p:spPr>
        <p:txBody>
          <a:bodyPr wrap="square">
            <a:spAutoFit/>
          </a:bodyPr>
          <a:lstStyle/>
          <a:p>
            <a:pPr algn="l"/>
            <a:r>
              <a:rPr sz="1050" b="0">
                <a:solidFill>
                  <a:srgbClr val="8B949E"/>
                </a:solidFill>
                <a:latin typeface="Inter"/>
              </a:rPr>
              <a:t>Live SSE streaming, arc budget gauge, compaction banners, plan history panel</a:t>
            </a:r>
          </a:p>
        </p:txBody>
      </p:sp>
      <p:sp>
        <p:nvSpPr>
          <p:cNvPr id="25" name="Rectangle 24"/>
          <p:cNvSpPr/>
          <p:nvPr/>
        </p:nvSpPr>
        <p:spPr>
          <a:xfrm>
            <a:off x="457200" y="4453127"/>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562855"/>
            <a:ext cx="411480" cy="347472"/>
          </a:xfrm>
          <a:prstGeom prst="rect">
            <a:avLst/>
          </a:prstGeom>
          <a:noFill/>
        </p:spPr>
        <p:txBody>
          <a:bodyPr wrap="square">
            <a:spAutoFit/>
          </a:bodyPr>
          <a:lstStyle/>
          <a:p>
            <a:pPr algn="l"/>
            <a:r>
              <a:rPr sz="1400" b="0">
                <a:solidFill>
                  <a:srgbClr val="22C55E"/>
                </a:solidFill>
                <a:latin typeface="Inter"/>
              </a:rPr>
              <a:t>✅</a:t>
            </a:r>
          </a:p>
        </p:txBody>
      </p:sp>
      <p:sp>
        <p:nvSpPr>
          <p:cNvPr id="27" name="TextBox 26"/>
          <p:cNvSpPr txBox="1"/>
          <p:nvPr/>
        </p:nvSpPr>
        <p:spPr>
          <a:xfrm>
            <a:off x="1097280" y="4562855"/>
            <a:ext cx="2103120" cy="347472"/>
          </a:xfrm>
          <a:prstGeom prst="rect">
            <a:avLst/>
          </a:prstGeom>
          <a:noFill/>
        </p:spPr>
        <p:txBody>
          <a:bodyPr wrap="square">
            <a:spAutoFit/>
          </a:bodyPr>
          <a:lstStyle/>
          <a:p>
            <a:pPr algn="l"/>
            <a:r>
              <a:rPr sz="1100" b="1">
                <a:solidFill>
                  <a:srgbClr val="22C55E"/>
                </a:solidFill>
                <a:latin typeface="Inter"/>
              </a:rPr>
              <a:t>4 Demo Scenarios</a:t>
            </a:r>
          </a:p>
        </p:txBody>
      </p:sp>
      <p:sp>
        <p:nvSpPr>
          <p:cNvPr id="28" name="TextBox 27"/>
          <p:cNvSpPr txBox="1"/>
          <p:nvPr/>
        </p:nvSpPr>
        <p:spPr>
          <a:xfrm>
            <a:off x="3337560" y="4562855"/>
            <a:ext cx="8183879" cy="384048"/>
          </a:xfrm>
          <a:prstGeom prst="rect">
            <a:avLst/>
          </a:prstGeom>
          <a:noFill/>
        </p:spPr>
        <p:txBody>
          <a:bodyPr wrap="square">
            <a:spAutoFit/>
          </a:bodyPr>
          <a:lstStyle/>
          <a:p>
            <a:pPr algn="l"/>
            <a:r>
              <a:rPr sz="1050" b="0">
                <a:solidFill>
                  <a:srgbClr val="8B949E"/>
                </a:solidFill>
                <a:latin typeface="Inter"/>
              </a:rPr>
              <a:t>K8s / DB / VPN / SSL — all run in docker compose, no credentials needed</a:t>
            </a:r>
          </a:p>
        </p:txBody>
      </p:sp>
      <p:sp>
        <p:nvSpPr>
          <p:cNvPr id="29" name="Rectangle 28"/>
          <p:cNvSpPr/>
          <p:nvPr/>
        </p:nvSpPr>
        <p:spPr>
          <a:xfrm>
            <a:off x="457200" y="5120640"/>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230368"/>
            <a:ext cx="411480" cy="347472"/>
          </a:xfrm>
          <a:prstGeom prst="rect">
            <a:avLst/>
          </a:prstGeom>
          <a:noFill/>
        </p:spPr>
        <p:txBody>
          <a:bodyPr wrap="square">
            <a:spAutoFit/>
          </a:bodyPr>
          <a:lstStyle/>
          <a:p>
            <a:pPr algn="l"/>
            <a:r>
              <a:rPr sz="1400" b="0">
                <a:solidFill>
                  <a:srgbClr val="22C55E"/>
                </a:solidFill>
                <a:latin typeface="Inter"/>
              </a:rPr>
              <a:t>✅</a:t>
            </a:r>
          </a:p>
        </p:txBody>
      </p:sp>
      <p:sp>
        <p:nvSpPr>
          <p:cNvPr id="31" name="TextBox 30"/>
          <p:cNvSpPr txBox="1"/>
          <p:nvPr/>
        </p:nvSpPr>
        <p:spPr>
          <a:xfrm>
            <a:off x="1097280" y="5230368"/>
            <a:ext cx="2103120" cy="347472"/>
          </a:xfrm>
          <a:prstGeom prst="rect">
            <a:avLst/>
          </a:prstGeom>
          <a:noFill/>
        </p:spPr>
        <p:txBody>
          <a:bodyPr wrap="square">
            <a:spAutoFit/>
          </a:bodyPr>
          <a:lstStyle/>
          <a:p>
            <a:pPr algn="l"/>
            <a:r>
              <a:rPr sz="1100" b="1">
                <a:solidFill>
                  <a:srgbClr val="22C55E"/>
                </a:solidFill>
                <a:latin typeface="Inter"/>
              </a:rPr>
              <a:t>RegistryService</a:t>
            </a:r>
          </a:p>
        </p:txBody>
      </p:sp>
      <p:sp>
        <p:nvSpPr>
          <p:cNvPr id="32" name="TextBox 31"/>
          <p:cNvSpPr txBox="1"/>
          <p:nvPr/>
        </p:nvSpPr>
        <p:spPr>
          <a:xfrm>
            <a:off x="3337560" y="5230368"/>
            <a:ext cx="8183879" cy="384048"/>
          </a:xfrm>
          <a:prstGeom prst="rect">
            <a:avLst/>
          </a:prstGeom>
          <a:noFill/>
        </p:spPr>
        <p:txBody>
          <a:bodyPr wrap="square">
            <a:spAutoFit/>
          </a:bodyPr>
          <a:lstStyle/>
          <a:p>
            <a:pPr algn="l"/>
            <a:r>
              <a:rPr sz="1050" b="0">
                <a:solidFill>
                  <a:srgbClr val="8B949E"/>
                </a:solidFill>
                <a:latin typeface="Inter"/>
              </a:rPr>
              <a:t>Full system design + API spec + ScalableRegistryClient (60s TTL) in AgentCore</a:t>
            </a:r>
          </a:p>
        </p:txBody>
      </p:sp>
      <p:sp>
        <p:nvSpPr>
          <p:cNvPr id="33" name="Rectangle 32"/>
          <p:cNvSpPr/>
          <p:nvPr/>
        </p:nvSpPr>
        <p:spPr>
          <a:xfrm>
            <a:off x="457200" y="5788152"/>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5897880"/>
            <a:ext cx="411480" cy="347472"/>
          </a:xfrm>
          <a:prstGeom prst="rect">
            <a:avLst/>
          </a:prstGeom>
          <a:noFill/>
        </p:spPr>
        <p:txBody>
          <a:bodyPr wrap="square">
            <a:spAutoFit/>
          </a:bodyPr>
          <a:lstStyle/>
          <a:p>
            <a:pPr algn="l"/>
            <a:r>
              <a:rPr sz="1400" b="0">
                <a:solidFill>
                  <a:srgbClr val="22C55E"/>
                </a:solidFill>
                <a:latin typeface="Inter"/>
              </a:rPr>
              <a:t>✅</a:t>
            </a:r>
          </a:p>
        </p:txBody>
      </p:sp>
      <p:sp>
        <p:nvSpPr>
          <p:cNvPr id="35" name="TextBox 34"/>
          <p:cNvSpPr txBox="1"/>
          <p:nvPr/>
        </p:nvSpPr>
        <p:spPr>
          <a:xfrm>
            <a:off x="1097280" y="5897880"/>
            <a:ext cx="2103120" cy="347472"/>
          </a:xfrm>
          <a:prstGeom prst="rect">
            <a:avLst/>
          </a:prstGeom>
          <a:noFill/>
        </p:spPr>
        <p:txBody>
          <a:bodyPr wrap="square">
            <a:spAutoFit/>
          </a:bodyPr>
          <a:lstStyle/>
          <a:p>
            <a:pPr algn="l"/>
            <a:r>
              <a:rPr sz="1100" b="1">
                <a:solidFill>
                  <a:srgbClr val="22C55E"/>
                </a:solidFill>
                <a:latin typeface="Inter"/>
              </a:rPr>
              <a:t>Previous Hackathon</a:t>
            </a:r>
          </a:p>
        </p:txBody>
      </p:sp>
      <p:sp>
        <p:nvSpPr>
          <p:cNvPr id="36" name="TextBox 35"/>
          <p:cNvSpPr txBox="1"/>
          <p:nvPr/>
        </p:nvSpPr>
        <p:spPr>
          <a:xfrm>
            <a:off x="3337560" y="5897880"/>
            <a:ext cx="8183879" cy="384048"/>
          </a:xfrm>
          <a:prstGeom prst="rect">
            <a:avLst/>
          </a:prstGeom>
          <a:noFill/>
        </p:spPr>
        <p:txBody>
          <a:bodyPr wrap="square">
            <a:spAutoFit/>
          </a:bodyPr>
          <a:lstStyle/>
          <a:p>
            <a:pPr algn="l"/>
            <a:r>
              <a:rPr sz="1050" b="0">
                <a:solidFill>
                  <a:srgbClr val="8B949E"/>
                </a:solidFill>
                <a:latin typeface="Inter"/>
              </a:rPr>
              <a:t>HITL + DAG parallel execution demoed and validated with judges</a:t>
            </a:r>
          </a:p>
        </p:txBody>
      </p:sp>
      <p:sp>
        <p:nvSpPr>
          <p:cNvPr id="37" name="Rectangle 36"/>
          <p:cNvSpPr/>
          <p:nvPr/>
        </p:nvSpPr>
        <p:spPr>
          <a:xfrm>
            <a:off x="457200" y="6455664"/>
            <a:ext cx="11274552" cy="59436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6565392"/>
            <a:ext cx="411480" cy="347472"/>
          </a:xfrm>
          <a:prstGeom prst="rect">
            <a:avLst/>
          </a:prstGeom>
          <a:noFill/>
        </p:spPr>
        <p:txBody>
          <a:bodyPr wrap="square">
            <a:spAutoFit/>
          </a:bodyPr>
          <a:lstStyle/>
          <a:p>
            <a:pPr algn="l"/>
            <a:r>
              <a:rPr sz="1400" b="0">
                <a:solidFill>
                  <a:srgbClr val="22C55E"/>
                </a:solidFill>
                <a:latin typeface="Inter"/>
              </a:rPr>
              <a:t>✅</a:t>
            </a:r>
          </a:p>
        </p:txBody>
      </p:sp>
      <p:sp>
        <p:nvSpPr>
          <p:cNvPr id="39" name="TextBox 38"/>
          <p:cNvSpPr txBox="1"/>
          <p:nvPr/>
        </p:nvSpPr>
        <p:spPr>
          <a:xfrm>
            <a:off x="1097280" y="6565392"/>
            <a:ext cx="2103120" cy="347472"/>
          </a:xfrm>
          <a:prstGeom prst="rect">
            <a:avLst/>
          </a:prstGeom>
          <a:noFill/>
        </p:spPr>
        <p:txBody>
          <a:bodyPr wrap="square">
            <a:spAutoFit/>
          </a:bodyPr>
          <a:lstStyle/>
          <a:p>
            <a:pPr algn="l"/>
            <a:r>
              <a:rPr sz="1100" b="1">
                <a:solidFill>
                  <a:srgbClr val="22C55E"/>
                </a:solidFill>
                <a:latin typeface="Inter"/>
              </a:rPr>
              <a:t>Recorded Demo</a:t>
            </a:r>
          </a:p>
        </p:txBody>
      </p:sp>
      <p:sp>
        <p:nvSpPr>
          <p:cNvPr id="40" name="TextBox 39"/>
          <p:cNvSpPr txBox="1"/>
          <p:nvPr/>
        </p:nvSpPr>
        <p:spPr>
          <a:xfrm>
            <a:off x="3337560" y="6565392"/>
            <a:ext cx="8183879" cy="384048"/>
          </a:xfrm>
          <a:prstGeom prst="rect">
            <a:avLst/>
          </a:prstGeom>
          <a:noFill/>
        </p:spPr>
        <p:txBody>
          <a:bodyPr wrap="square">
            <a:spAutoFit/>
          </a:bodyPr>
          <a:lstStyle/>
          <a:p>
            <a:pPr algn="l"/>
            <a:r>
              <a:rPr sz="1050" b="0">
                <a:solidFill>
                  <a:srgbClr val="8B949E"/>
                </a:solidFill>
                <a:latin typeface="Inter"/>
              </a:rPr>
              <a:t>Full MP4 walkthrough: login → clarification → few-shot → HITL → execution →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What We're Raising</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12</a:t>
            </a:r>
          </a:p>
        </p:txBody>
      </p:sp>
      <p:sp>
        <p:nvSpPr>
          <p:cNvPr id="5" name="Rectangle 4"/>
          <p:cNvSpPr/>
          <p:nvPr/>
        </p:nvSpPr>
        <p:spPr>
          <a:xfrm>
            <a:off x="457200" y="1051560"/>
            <a:ext cx="5029200" cy="2011680"/>
          </a:xfrm>
          <a:prstGeom prst="rect">
            <a:avLst/>
          </a:prstGeom>
          <a:solidFill>
            <a:srgbClr val="1E1045"/>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4663440" cy="1097280"/>
          </a:xfrm>
          <a:prstGeom prst="rect">
            <a:avLst/>
          </a:prstGeom>
          <a:noFill/>
        </p:spPr>
        <p:txBody>
          <a:bodyPr wrap="square">
            <a:spAutoFit/>
          </a:bodyPr>
          <a:lstStyle/>
          <a:p>
            <a:pPr algn="ctr"/>
            <a:r>
              <a:rPr sz="6000" b="1">
                <a:solidFill>
                  <a:srgbClr val="A78BFA"/>
                </a:solidFill>
                <a:latin typeface="Inter"/>
              </a:rPr>
              <a:t>$1.5M</a:t>
            </a:r>
          </a:p>
        </p:txBody>
      </p:sp>
      <p:sp>
        <p:nvSpPr>
          <p:cNvPr id="7" name="TextBox 6"/>
          <p:cNvSpPr txBox="1"/>
          <p:nvPr/>
        </p:nvSpPr>
        <p:spPr>
          <a:xfrm>
            <a:off x="640080" y="2057400"/>
            <a:ext cx="4663440" cy="640080"/>
          </a:xfrm>
          <a:prstGeom prst="rect">
            <a:avLst/>
          </a:prstGeom>
          <a:noFill/>
        </p:spPr>
        <p:txBody>
          <a:bodyPr wrap="square">
            <a:spAutoFit/>
          </a:bodyPr>
          <a:lstStyle/>
          <a:p>
            <a:pPr algn="ctr"/>
            <a:r>
              <a:rPr sz="1400" b="0">
                <a:solidFill>
                  <a:srgbClr val="8B949E"/>
                </a:solidFill>
                <a:latin typeface="Inter"/>
              </a:rPr>
              <a:t>Pre-Seed · 18-month runway</a:t>
            </a:r>
          </a:p>
        </p:txBody>
      </p:sp>
      <p:sp>
        <p:nvSpPr>
          <p:cNvPr id="8" name="Rectangle 7"/>
          <p:cNvSpPr/>
          <p:nvPr/>
        </p:nvSpPr>
        <p:spPr>
          <a:xfrm>
            <a:off x="5669280" y="1051560"/>
            <a:ext cx="6035040" cy="201168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0" y="1143000"/>
            <a:ext cx="5669280" cy="365760"/>
          </a:xfrm>
          <a:prstGeom prst="rect">
            <a:avLst/>
          </a:prstGeom>
          <a:noFill/>
        </p:spPr>
        <p:txBody>
          <a:bodyPr wrap="square">
            <a:spAutoFit/>
          </a:bodyPr>
          <a:lstStyle/>
          <a:p>
            <a:pPr algn="l"/>
            <a:r>
              <a:rPr sz="1200" b="1">
                <a:solidFill>
                  <a:srgbClr val="A78BFA"/>
                </a:solidFill>
                <a:latin typeface="Inter"/>
              </a:rPr>
              <a:t>Milestones</a:t>
            </a:r>
          </a:p>
        </p:txBody>
      </p:sp>
      <p:sp>
        <p:nvSpPr>
          <p:cNvPr id="10" name="TextBox 9"/>
          <p:cNvSpPr txBox="1"/>
          <p:nvPr/>
        </p:nvSpPr>
        <p:spPr>
          <a:xfrm>
            <a:off x="5852160" y="1572768"/>
            <a:ext cx="5669280" cy="320040"/>
          </a:xfrm>
          <a:prstGeom prst="rect">
            <a:avLst/>
          </a:prstGeom>
          <a:noFill/>
        </p:spPr>
        <p:txBody>
          <a:bodyPr wrap="square">
            <a:spAutoFit/>
          </a:bodyPr>
          <a:lstStyle/>
          <a:p>
            <a:pPr algn="l"/>
            <a:r>
              <a:rPr sz="1050" b="0">
                <a:solidFill>
                  <a:srgbClr val="8B949E"/>
                </a:solidFill>
                <a:latin typeface="Inter"/>
              </a:rPr>
              <a:t>→  20 paid design partners → Series A trigger</a:t>
            </a:r>
          </a:p>
        </p:txBody>
      </p:sp>
      <p:sp>
        <p:nvSpPr>
          <p:cNvPr id="11" name="TextBox 10"/>
          <p:cNvSpPr txBox="1"/>
          <p:nvPr/>
        </p:nvSpPr>
        <p:spPr>
          <a:xfrm>
            <a:off x="5852160" y="1938528"/>
            <a:ext cx="5669280" cy="320040"/>
          </a:xfrm>
          <a:prstGeom prst="rect">
            <a:avLst/>
          </a:prstGeom>
          <a:noFill/>
        </p:spPr>
        <p:txBody>
          <a:bodyPr wrap="square">
            <a:spAutoFit/>
          </a:bodyPr>
          <a:lstStyle/>
          <a:p>
            <a:pPr algn="l"/>
            <a:r>
              <a:rPr sz="1050" b="0">
                <a:solidFill>
                  <a:srgbClr val="8B949E"/>
                </a:solidFill>
                <a:latin typeface="Inter"/>
              </a:rPr>
              <a:t>→  $5M ARR target at Series A</a:t>
            </a:r>
          </a:p>
        </p:txBody>
      </p:sp>
      <p:sp>
        <p:nvSpPr>
          <p:cNvPr id="12" name="TextBox 11"/>
          <p:cNvSpPr txBox="1"/>
          <p:nvPr/>
        </p:nvSpPr>
        <p:spPr>
          <a:xfrm>
            <a:off x="5852160" y="2304288"/>
            <a:ext cx="5669280" cy="320040"/>
          </a:xfrm>
          <a:prstGeom prst="rect">
            <a:avLst/>
          </a:prstGeom>
          <a:noFill/>
        </p:spPr>
        <p:txBody>
          <a:bodyPr wrap="square">
            <a:spAutoFit/>
          </a:bodyPr>
          <a:lstStyle/>
          <a:p>
            <a:pPr algn="l"/>
            <a:r>
              <a:rPr sz="1050" b="0">
                <a:solidFill>
                  <a:srgbClr val="8B949E"/>
                </a:solidFill>
                <a:latin typeface="Inter"/>
              </a:rPr>
              <a:t>→  RegistryService GA in Year 2</a:t>
            </a:r>
          </a:p>
        </p:txBody>
      </p:sp>
      <p:sp>
        <p:nvSpPr>
          <p:cNvPr id="13" name="TextBox 12"/>
          <p:cNvSpPr txBox="1"/>
          <p:nvPr/>
        </p:nvSpPr>
        <p:spPr>
          <a:xfrm>
            <a:off x="5852160" y="2670048"/>
            <a:ext cx="5669280" cy="320040"/>
          </a:xfrm>
          <a:prstGeom prst="rect">
            <a:avLst/>
          </a:prstGeom>
          <a:noFill/>
        </p:spPr>
        <p:txBody>
          <a:bodyPr wrap="square">
            <a:spAutoFit/>
          </a:bodyPr>
          <a:lstStyle/>
          <a:p>
            <a:pPr algn="l"/>
            <a:r>
              <a:rPr sz="1050" b="0">
                <a:solidFill>
                  <a:srgbClr val="8B949E"/>
                </a:solidFill>
                <a:latin typeface="Inter"/>
              </a:rPr>
              <a:t>→  MSP channel launch in Year 2</a:t>
            </a:r>
          </a:p>
        </p:txBody>
      </p:sp>
      <p:sp>
        <p:nvSpPr>
          <p:cNvPr id="14" name="TextBox 13"/>
          <p:cNvSpPr txBox="1"/>
          <p:nvPr/>
        </p:nvSpPr>
        <p:spPr>
          <a:xfrm>
            <a:off x="457200" y="3200400"/>
            <a:ext cx="11274552" cy="365760"/>
          </a:xfrm>
          <a:prstGeom prst="rect">
            <a:avLst/>
          </a:prstGeom>
          <a:noFill/>
        </p:spPr>
        <p:txBody>
          <a:bodyPr wrap="square">
            <a:spAutoFit/>
          </a:bodyPr>
          <a:lstStyle/>
          <a:p>
            <a:pPr algn="l"/>
            <a:r>
              <a:rPr sz="1300" b="1">
                <a:solidFill>
                  <a:srgbClr val="8B949E"/>
                </a:solidFill>
                <a:latin typeface="Inter"/>
              </a:rPr>
              <a:t>Use of Funds</a:t>
            </a:r>
          </a:p>
        </p:txBody>
      </p:sp>
      <p:sp>
        <p:nvSpPr>
          <p:cNvPr id="15" name="Rectangle 14"/>
          <p:cNvSpPr/>
          <p:nvPr/>
        </p:nvSpPr>
        <p:spPr>
          <a:xfrm>
            <a:off x="457200" y="3291840"/>
            <a:ext cx="11274552" cy="713232"/>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291840"/>
            <a:ext cx="73152" cy="713232"/>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456432"/>
            <a:ext cx="731520" cy="365760"/>
          </a:xfrm>
          <a:prstGeom prst="rect">
            <a:avLst/>
          </a:prstGeom>
          <a:noFill/>
        </p:spPr>
        <p:txBody>
          <a:bodyPr wrap="square">
            <a:spAutoFit/>
          </a:bodyPr>
          <a:lstStyle/>
          <a:p>
            <a:pPr algn="l"/>
            <a:r>
              <a:rPr sz="1800" b="1">
                <a:solidFill>
                  <a:srgbClr val="A78BFA"/>
                </a:solidFill>
                <a:latin typeface="Inter"/>
              </a:rPr>
              <a:t>55%</a:t>
            </a:r>
          </a:p>
        </p:txBody>
      </p:sp>
      <p:sp>
        <p:nvSpPr>
          <p:cNvPr id="18" name="TextBox 17"/>
          <p:cNvSpPr txBox="1"/>
          <p:nvPr/>
        </p:nvSpPr>
        <p:spPr>
          <a:xfrm>
            <a:off x="1463040" y="3364992"/>
            <a:ext cx="3200400" cy="320040"/>
          </a:xfrm>
          <a:prstGeom prst="rect">
            <a:avLst/>
          </a:prstGeom>
          <a:noFill/>
        </p:spPr>
        <p:txBody>
          <a:bodyPr wrap="square">
            <a:spAutoFit/>
          </a:bodyPr>
          <a:lstStyle/>
          <a:p>
            <a:pPr algn="l"/>
            <a:r>
              <a:rPr sz="1100" b="1">
                <a:solidFill>
                  <a:srgbClr val="A78BFA"/>
                </a:solidFill>
                <a:latin typeface="Inter"/>
              </a:rPr>
              <a:t>Engineering</a:t>
            </a:r>
          </a:p>
        </p:txBody>
      </p:sp>
      <p:sp>
        <p:nvSpPr>
          <p:cNvPr id="19" name="TextBox 18"/>
          <p:cNvSpPr txBox="1"/>
          <p:nvPr/>
        </p:nvSpPr>
        <p:spPr>
          <a:xfrm>
            <a:off x="1463040" y="3694176"/>
            <a:ext cx="9601200" cy="274320"/>
          </a:xfrm>
          <a:prstGeom prst="rect">
            <a:avLst/>
          </a:prstGeom>
          <a:noFill/>
        </p:spPr>
        <p:txBody>
          <a:bodyPr wrap="square">
            <a:spAutoFit/>
          </a:bodyPr>
          <a:lstStyle/>
          <a:p>
            <a:pPr algn="l"/>
            <a:r>
              <a:rPr sz="1000" b="0">
                <a:solidFill>
                  <a:srgbClr val="8B949E"/>
                </a:solidFill>
                <a:latin typeface="Inter"/>
              </a:rPr>
              <a:t>2 hires: backend + frontend</a:t>
            </a:r>
          </a:p>
        </p:txBody>
      </p:sp>
      <p:sp>
        <p:nvSpPr>
          <p:cNvPr id="20" name="Rectangle 19"/>
          <p:cNvSpPr/>
          <p:nvPr/>
        </p:nvSpPr>
        <p:spPr>
          <a:xfrm>
            <a:off x="457200" y="4078224"/>
            <a:ext cx="11274552" cy="713232"/>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078224"/>
            <a:ext cx="73152" cy="71323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4242816"/>
            <a:ext cx="731520" cy="365760"/>
          </a:xfrm>
          <a:prstGeom prst="rect">
            <a:avLst/>
          </a:prstGeom>
          <a:noFill/>
        </p:spPr>
        <p:txBody>
          <a:bodyPr wrap="square">
            <a:spAutoFit/>
          </a:bodyPr>
          <a:lstStyle/>
          <a:p>
            <a:pPr algn="l"/>
            <a:r>
              <a:rPr sz="1800" b="1">
                <a:solidFill>
                  <a:srgbClr val="22C55E"/>
                </a:solidFill>
                <a:latin typeface="Inter"/>
              </a:rPr>
              <a:t>25%</a:t>
            </a:r>
          </a:p>
        </p:txBody>
      </p:sp>
      <p:sp>
        <p:nvSpPr>
          <p:cNvPr id="23" name="TextBox 22"/>
          <p:cNvSpPr txBox="1"/>
          <p:nvPr/>
        </p:nvSpPr>
        <p:spPr>
          <a:xfrm>
            <a:off x="1463040" y="4151376"/>
            <a:ext cx="3200400" cy="320040"/>
          </a:xfrm>
          <a:prstGeom prst="rect">
            <a:avLst/>
          </a:prstGeom>
          <a:noFill/>
        </p:spPr>
        <p:txBody>
          <a:bodyPr wrap="square">
            <a:spAutoFit/>
          </a:bodyPr>
          <a:lstStyle/>
          <a:p>
            <a:pPr algn="l"/>
            <a:r>
              <a:rPr sz="1100" b="1">
                <a:solidFill>
                  <a:srgbClr val="22C55E"/>
                </a:solidFill>
                <a:latin typeface="Inter"/>
              </a:rPr>
              <a:t>Sales &amp; Design Partners</a:t>
            </a:r>
          </a:p>
        </p:txBody>
      </p:sp>
      <p:sp>
        <p:nvSpPr>
          <p:cNvPr id="24" name="TextBox 23"/>
          <p:cNvSpPr txBox="1"/>
          <p:nvPr/>
        </p:nvSpPr>
        <p:spPr>
          <a:xfrm>
            <a:off x="1463040" y="4480560"/>
            <a:ext cx="9601200" cy="274320"/>
          </a:xfrm>
          <a:prstGeom prst="rect">
            <a:avLst/>
          </a:prstGeom>
          <a:noFill/>
        </p:spPr>
        <p:txBody>
          <a:bodyPr wrap="square">
            <a:spAutoFit/>
          </a:bodyPr>
          <a:lstStyle/>
          <a:p>
            <a:pPr algn="l"/>
            <a:r>
              <a:rPr sz="1000" b="0">
                <a:solidFill>
                  <a:srgbClr val="8B949E"/>
                </a:solidFill>
                <a:latin typeface="Inter"/>
              </a:rPr>
              <a:t>Outreach, onboarding, design partner program</a:t>
            </a:r>
          </a:p>
        </p:txBody>
      </p:sp>
      <p:sp>
        <p:nvSpPr>
          <p:cNvPr id="25" name="Rectangle 24"/>
          <p:cNvSpPr/>
          <p:nvPr/>
        </p:nvSpPr>
        <p:spPr>
          <a:xfrm>
            <a:off x="457200" y="4864608"/>
            <a:ext cx="11274552" cy="713232"/>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864608"/>
            <a:ext cx="73152" cy="71323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5029200"/>
            <a:ext cx="731520" cy="365760"/>
          </a:xfrm>
          <a:prstGeom prst="rect">
            <a:avLst/>
          </a:prstGeom>
          <a:noFill/>
        </p:spPr>
        <p:txBody>
          <a:bodyPr wrap="square">
            <a:spAutoFit/>
          </a:bodyPr>
          <a:lstStyle/>
          <a:p>
            <a:pPr algn="l"/>
            <a:r>
              <a:rPr sz="1800" b="1">
                <a:solidFill>
                  <a:srgbClr val="38BDF8"/>
                </a:solidFill>
                <a:latin typeface="Inter"/>
              </a:rPr>
              <a:t>10%</a:t>
            </a:r>
          </a:p>
        </p:txBody>
      </p:sp>
      <p:sp>
        <p:nvSpPr>
          <p:cNvPr id="28" name="TextBox 27"/>
          <p:cNvSpPr txBox="1"/>
          <p:nvPr/>
        </p:nvSpPr>
        <p:spPr>
          <a:xfrm>
            <a:off x="1463040" y="4937760"/>
            <a:ext cx="3200400" cy="320040"/>
          </a:xfrm>
          <a:prstGeom prst="rect">
            <a:avLst/>
          </a:prstGeom>
          <a:noFill/>
        </p:spPr>
        <p:txBody>
          <a:bodyPr wrap="square">
            <a:spAutoFit/>
          </a:bodyPr>
          <a:lstStyle/>
          <a:p>
            <a:pPr algn="l"/>
            <a:r>
              <a:rPr sz="1100" b="1">
                <a:solidFill>
                  <a:srgbClr val="38BDF8"/>
                </a:solidFill>
                <a:latin typeface="Inter"/>
              </a:rPr>
              <a:t>Infrastructure</a:t>
            </a:r>
          </a:p>
        </p:txBody>
      </p:sp>
      <p:sp>
        <p:nvSpPr>
          <p:cNvPr id="29" name="TextBox 28"/>
          <p:cNvSpPr txBox="1"/>
          <p:nvPr/>
        </p:nvSpPr>
        <p:spPr>
          <a:xfrm>
            <a:off x="1463040" y="5266944"/>
            <a:ext cx="9601200" cy="274320"/>
          </a:xfrm>
          <a:prstGeom prst="rect">
            <a:avLst/>
          </a:prstGeom>
          <a:noFill/>
        </p:spPr>
        <p:txBody>
          <a:bodyPr wrap="square">
            <a:spAutoFit/>
          </a:bodyPr>
          <a:lstStyle/>
          <a:p>
            <a:pPr algn="l"/>
            <a:r>
              <a:rPr sz="1000" b="0">
                <a:solidFill>
                  <a:srgbClr val="8B949E"/>
                </a:solidFill>
                <a:latin typeface="Inter"/>
              </a:rPr>
              <a:t>Cloud, CI/CD, security audits</a:t>
            </a:r>
          </a:p>
        </p:txBody>
      </p:sp>
      <p:sp>
        <p:nvSpPr>
          <p:cNvPr id="30" name="Rectangle 29"/>
          <p:cNvSpPr/>
          <p:nvPr/>
        </p:nvSpPr>
        <p:spPr>
          <a:xfrm>
            <a:off x="457200" y="5650992"/>
            <a:ext cx="11274552" cy="713232"/>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650992"/>
            <a:ext cx="73152" cy="7132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5815584"/>
            <a:ext cx="731520" cy="365760"/>
          </a:xfrm>
          <a:prstGeom prst="rect">
            <a:avLst/>
          </a:prstGeom>
          <a:noFill/>
        </p:spPr>
        <p:txBody>
          <a:bodyPr wrap="square">
            <a:spAutoFit/>
          </a:bodyPr>
          <a:lstStyle/>
          <a:p>
            <a:pPr algn="l"/>
            <a:r>
              <a:rPr sz="1800" b="1">
                <a:solidFill>
                  <a:srgbClr val="F59E0B"/>
                </a:solidFill>
                <a:latin typeface="Inter"/>
              </a:rPr>
              <a:t>10%</a:t>
            </a:r>
          </a:p>
        </p:txBody>
      </p:sp>
      <p:sp>
        <p:nvSpPr>
          <p:cNvPr id="33" name="TextBox 32"/>
          <p:cNvSpPr txBox="1"/>
          <p:nvPr/>
        </p:nvSpPr>
        <p:spPr>
          <a:xfrm>
            <a:off x="1463040" y="5724144"/>
            <a:ext cx="3200400" cy="320040"/>
          </a:xfrm>
          <a:prstGeom prst="rect">
            <a:avLst/>
          </a:prstGeom>
          <a:noFill/>
        </p:spPr>
        <p:txBody>
          <a:bodyPr wrap="square">
            <a:spAutoFit/>
          </a:bodyPr>
          <a:lstStyle/>
          <a:p>
            <a:pPr algn="l"/>
            <a:r>
              <a:rPr sz="1100" b="1">
                <a:solidFill>
                  <a:srgbClr val="F59E0B"/>
                </a:solidFill>
                <a:latin typeface="Inter"/>
              </a:rPr>
              <a:t>Legal / Compliance</a:t>
            </a:r>
          </a:p>
        </p:txBody>
      </p:sp>
      <p:sp>
        <p:nvSpPr>
          <p:cNvPr id="34" name="TextBox 33"/>
          <p:cNvSpPr txBox="1"/>
          <p:nvPr/>
        </p:nvSpPr>
        <p:spPr>
          <a:xfrm>
            <a:off x="1463040" y="6053328"/>
            <a:ext cx="9601200" cy="274320"/>
          </a:xfrm>
          <a:prstGeom prst="rect">
            <a:avLst/>
          </a:prstGeom>
          <a:noFill/>
        </p:spPr>
        <p:txBody>
          <a:bodyPr wrap="square">
            <a:spAutoFit/>
          </a:bodyPr>
          <a:lstStyle/>
          <a:p>
            <a:pPr algn="l"/>
            <a:r>
              <a:rPr sz="1000" b="0">
                <a:solidFill>
                  <a:srgbClr val="8B949E"/>
                </a:solidFill>
                <a:latin typeface="Inter"/>
              </a:rPr>
              <a:t>SOC2, legal entity, compliance certs</a:t>
            </a:r>
          </a:p>
        </p:txBody>
      </p:sp>
      <p:sp>
        <p:nvSpPr>
          <p:cNvPr id="35" name="Rectangle 34"/>
          <p:cNvSpPr/>
          <p:nvPr/>
        </p:nvSpPr>
        <p:spPr>
          <a:xfrm>
            <a:off x="457200" y="6446520"/>
            <a:ext cx="11274552" cy="292608"/>
          </a:xfrm>
          <a:prstGeom prst="rect">
            <a:avLst/>
          </a:prstGeom>
          <a:solidFill>
            <a:srgbClr val="161B22"/>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6492240"/>
            <a:ext cx="10881360" cy="201168"/>
          </a:xfrm>
          <a:prstGeom prst="rect">
            <a:avLst/>
          </a:prstGeom>
          <a:noFill/>
        </p:spPr>
        <p:txBody>
          <a:bodyPr wrap="square">
            <a:spAutoFit/>
          </a:bodyPr>
          <a:lstStyle/>
          <a:p>
            <a:pPr algn="ctr"/>
            <a:r>
              <a:rPr sz="900" b="0">
                <a:solidFill>
                  <a:srgbClr val="8B949E"/>
                </a:solidFill>
                <a:latin typeface="Inter"/>
              </a:rPr>
              <a:t>Phase 1: $480K ARR (20 design partners)  ·  Phase 2: $5M ARR (MSP channel)  ·  Phase 3: $25M ARR (RegistryService GA)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457200" y="365760"/>
            <a:ext cx="54864"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7315200" cy="548640"/>
          </a:xfrm>
          <a:prstGeom prst="rect">
            <a:avLst/>
          </a:prstGeom>
          <a:noFill/>
        </p:spPr>
        <p:txBody>
          <a:bodyPr wrap="square">
            <a:spAutoFit/>
          </a:bodyPr>
          <a:lstStyle/>
          <a:p>
            <a:pPr algn="l"/>
            <a:r>
              <a:rPr sz="2800" b="1">
                <a:solidFill>
                  <a:srgbClr val="E6EDF3"/>
                </a:solidFill>
                <a:latin typeface="Inter"/>
              </a:rPr>
              <a:t>Why Now</a:t>
            </a:r>
          </a:p>
        </p:txBody>
      </p:sp>
      <p:sp>
        <p:nvSpPr>
          <p:cNvPr id="4" name="TextBox 3"/>
          <p:cNvSpPr txBox="1"/>
          <p:nvPr/>
        </p:nvSpPr>
        <p:spPr>
          <a:xfrm>
            <a:off x="10972800" y="347472"/>
            <a:ext cx="914400" cy="457200"/>
          </a:xfrm>
          <a:prstGeom prst="rect">
            <a:avLst/>
          </a:prstGeom>
          <a:noFill/>
        </p:spPr>
        <p:txBody>
          <a:bodyPr wrap="square">
            <a:spAutoFit/>
          </a:bodyPr>
          <a:lstStyle/>
          <a:p>
            <a:pPr algn="r"/>
            <a:r>
              <a:rPr sz="1100" b="0">
                <a:solidFill>
                  <a:srgbClr val="484F58"/>
                </a:solidFill>
                <a:latin typeface="Inter"/>
              </a:rPr>
              <a:t>13</a:t>
            </a:r>
          </a:p>
        </p:txBody>
      </p:sp>
      <p:sp>
        <p:nvSpPr>
          <p:cNvPr id="5" name="Rectangle 4"/>
          <p:cNvSpPr/>
          <p:nvPr/>
        </p:nvSpPr>
        <p:spPr>
          <a:xfrm>
            <a:off x="457200" y="1188720"/>
            <a:ext cx="11274552" cy="1645920"/>
          </a:xfrm>
          <a:prstGeom prst="rect">
            <a:avLst/>
          </a:prstGeom>
          <a:solidFill>
            <a:srgbClr val="0D1117"/>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109728" cy="164592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91640"/>
            <a:ext cx="411480" cy="548640"/>
          </a:xfrm>
          <a:prstGeom prst="rect">
            <a:avLst/>
          </a:prstGeom>
          <a:noFill/>
        </p:spPr>
        <p:txBody>
          <a:bodyPr wrap="square">
            <a:spAutoFit/>
          </a:bodyPr>
          <a:lstStyle/>
          <a:p>
            <a:pPr algn="ctr"/>
            <a:r>
              <a:rPr sz="2600" b="1">
                <a:solidFill>
                  <a:srgbClr val="A78BFA"/>
                </a:solidFill>
                <a:latin typeface="Inter"/>
              </a:rPr>
              <a:t>1</a:t>
            </a:r>
          </a:p>
        </p:txBody>
      </p:sp>
      <p:sp>
        <p:nvSpPr>
          <p:cNvPr id="8" name="TextBox 7"/>
          <p:cNvSpPr txBox="1"/>
          <p:nvPr/>
        </p:nvSpPr>
        <p:spPr>
          <a:xfrm>
            <a:off x="1143000" y="1298448"/>
            <a:ext cx="10058400" cy="411480"/>
          </a:xfrm>
          <a:prstGeom prst="rect">
            <a:avLst/>
          </a:prstGeom>
          <a:noFill/>
        </p:spPr>
        <p:txBody>
          <a:bodyPr wrap="square">
            <a:spAutoFit/>
          </a:bodyPr>
          <a:lstStyle/>
          <a:p>
            <a:pPr algn="l"/>
            <a:r>
              <a:rPr sz="1400" b="1">
                <a:solidFill>
                  <a:srgbClr val="A78BFA"/>
                </a:solidFill>
                <a:latin typeface="Inter"/>
              </a:rPr>
              <a:t>Claude's Context Window Is the New Production Constraint</a:t>
            </a:r>
          </a:p>
        </p:txBody>
      </p:sp>
      <p:sp>
        <p:nvSpPr>
          <p:cNvPr id="9" name="TextBox 8"/>
          <p:cNvSpPr txBox="1"/>
          <p:nvPr/>
        </p:nvSpPr>
        <p:spPr>
          <a:xfrm>
            <a:off x="1143000" y="1783080"/>
            <a:ext cx="10058400" cy="914400"/>
          </a:xfrm>
          <a:prstGeom prst="rect">
            <a:avLst/>
          </a:prstGeom>
          <a:noFill/>
        </p:spPr>
        <p:txBody>
          <a:bodyPr wrap="square">
            <a:spAutoFit/>
          </a:bodyPr>
          <a:lstStyle/>
          <a:p>
            <a:pPr algn="l"/>
            <a:r>
              <a:rPr sz="1100" b="0">
                <a:solidFill>
                  <a:srgbClr val="8B949E"/>
                </a:solidFill>
                <a:latin typeface="Inter"/>
              </a:rPr>
              <a:t>As agents handle longer sessions, context budget management is no longer optional — it's the difference between a working agent and a degraded one. We built the gateway that manages it. Nobody else has.</a:t>
            </a:r>
          </a:p>
        </p:txBody>
      </p:sp>
      <p:sp>
        <p:nvSpPr>
          <p:cNvPr id="10" name="Rectangle 9"/>
          <p:cNvSpPr/>
          <p:nvPr/>
        </p:nvSpPr>
        <p:spPr>
          <a:xfrm>
            <a:off x="457200" y="2971800"/>
            <a:ext cx="11274552" cy="1645920"/>
          </a:xfrm>
          <a:prstGeom prst="rect">
            <a:avLst/>
          </a:prstGeom>
          <a:solidFill>
            <a:srgbClr val="0D1117"/>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971800"/>
            <a:ext cx="109728" cy="1645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474720"/>
            <a:ext cx="411480" cy="548640"/>
          </a:xfrm>
          <a:prstGeom prst="rect">
            <a:avLst/>
          </a:prstGeom>
          <a:noFill/>
        </p:spPr>
        <p:txBody>
          <a:bodyPr wrap="square">
            <a:spAutoFit/>
          </a:bodyPr>
          <a:lstStyle/>
          <a:p>
            <a:pPr algn="ctr"/>
            <a:r>
              <a:rPr sz="2600" b="1">
                <a:solidFill>
                  <a:srgbClr val="F59E0B"/>
                </a:solidFill>
                <a:latin typeface="Inter"/>
              </a:rPr>
              <a:t>2</a:t>
            </a:r>
          </a:p>
        </p:txBody>
      </p:sp>
      <p:sp>
        <p:nvSpPr>
          <p:cNvPr id="13" name="TextBox 12"/>
          <p:cNvSpPr txBox="1"/>
          <p:nvPr/>
        </p:nvSpPr>
        <p:spPr>
          <a:xfrm>
            <a:off x="1143000" y="3081528"/>
            <a:ext cx="10058400" cy="411480"/>
          </a:xfrm>
          <a:prstGeom prst="rect">
            <a:avLst/>
          </a:prstGeom>
          <a:noFill/>
        </p:spPr>
        <p:txBody>
          <a:bodyPr wrap="square">
            <a:spAutoFit/>
          </a:bodyPr>
          <a:lstStyle/>
          <a:p>
            <a:pPr algn="l"/>
            <a:r>
              <a:rPr sz="1400" b="1">
                <a:solidFill>
                  <a:srgbClr val="F59E0B"/>
                </a:solidFill>
                <a:latin typeface="Inter"/>
              </a:rPr>
              <a:t>Enterprise HITL Is Becoming Regulatory</a:t>
            </a:r>
          </a:p>
        </p:txBody>
      </p:sp>
      <p:sp>
        <p:nvSpPr>
          <p:cNvPr id="14" name="TextBox 13"/>
          <p:cNvSpPr txBox="1"/>
          <p:nvPr/>
        </p:nvSpPr>
        <p:spPr>
          <a:xfrm>
            <a:off x="1143000" y="3566160"/>
            <a:ext cx="10058400" cy="914400"/>
          </a:xfrm>
          <a:prstGeom prst="rect">
            <a:avLst/>
          </a:prstGeom>
          <a:noFill/>
        </p:spPr>
        <p:txBody>
          <a:bodyPr wrap="square">
            <a:spAutoFit/>
          </a:bodyPr>
          <a:lstStyle/>
          <a:p>
            <a:pPr algn="l"/>
            <a:r>
              <a:rPr sz="1100" b="0">
                <a:solidFill>
                  <a:srgbClr val="8B949E"/>
                </a:solidFill>
                <a:latin typeface="Inter"/>
              </a:rPr>
              <a:t>EU AI Act, NIST AI RMF, and SOC2 Type II all point toward mandatory human oversight for consequential AI actions. AgenticFrmk's hard HITL gate is a compliance feature, not a UX choice. Customers are asking for this now.</a:t>
            </a:r>
          </a:p>
        </p:txBody>
      </p:sp>
      <p:sp>
        <p:nvSpPr>
          <p:cNvPr id="15" name="Rectangle 14"/>
          <p:cNvSpPr/>
          <p:nvPr/>
        </p:nvSpPr>
        <p:spPr>
          <a:xfrm>
            <a:off x="457200" y="4754880"/>
            <a:ext cx="11274552" cy="1645920"/>
          </a:xfrm>
          <a:prstGeom prst="rect">
            <a:avLst/>
          </a:prstGeom>
          <a:solidFill>
            <a:srgbClr val="0D1117"/>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754880"/>
            <a:ext cx="109728" cy="16459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257800"/>
            <a:ext cx="411480" cy="548640"/>
          </a:xfrm>
          <a:prstGeom prst="rect">
            <a:avLst/>
          </a:prstGeom>
          <a:noFill/>
        </p:spPr>
        <p:txBody>
          <a:bodyPr wrap="square">
            <a:spAutoFit/>
          </a:bodyPr>
          <a:lstStyle/>
          <a:p>
            <a:pPr algn="ctr"/>
            <a:r>
              <a:rPr sz="2600" b="1">
                <a:solidFill>
                  <a:srgbClr val="22C55E"/>
                </a:solidFill>
                <a:latin typeface="Inter"/>
              </a:rPr>
              <a:t>3</a:t>
            </a:r>
          </a:p>
        </p:txBody>
      </p:sp>
      <p:sp>
        <p:nvSpPr>
          <p:cNvPr id="18" name="TextBox 17"/>
          <p:cNvSpPr txBox="1"/>
          <p:nvPr/>
        </p:nvSpPr>
        <p:spPr>
          <a:xfrm>
            <a:off x="1143000" y="4864608"/>
            <a:ext cx="10058400" cy="411480"/>
          </a:xfrm>
          <a:prstGeom prst="rect">
            <a:avLst/>
          </a:prstGeom>
          <a:noFill/>
        </p:spPr>
        <p:txBody>
          <a:bodyPr wrap="square">
            <a:spAutoFit/>
          </a:bodyPr>
          <a:lstStyle/>
          <a:p>
            <a:pPr algn="l"/>
            <a:r>
              <a:rPr sz="1400" b="1">
                <a:solidFill>
                  <a:srgbClr val="22C55E"/>
                </a:solidFill>
                <a:latin typeface="Inter"/>
              </a:rPr>
              <a:t>LangGraph Has Crossed the Production Threshold</a:t>
            </a:r>
          </a:p>
        </p:txBody>
      </p:sp>
      <p:sp>
        <p:nvSpPr>
          <p:cNvPr id="19" name="TextBox 18"/>
          <p:cNvSpPr txBox="1"/>
          <p:nvPr/>
        </p:nvSpPr>
        <p:spPr>
          <a:xfrm>
            <a:off x="1143000" y="5349240"/>
            <a:ext cx="10058400" cy="914400"/>
          </a:xfrm>
          <a:prstGeom prst="rect">
            <a:avLst/>
          </a:prstGeom>
          <a:noFill/>
        </p:spPr>
        <p:txBody>
          <a:bodyPr wrap="square">
            <a:spAutoFit/>
          </a:bodyPr>
          <a:lstStyle/>
          <a:p>
            <a:pPr algn="l"/>
            <a:r>
              <a:rPr sz="1100" b="0">
                <a:solidFill>
                  <a:srgbClr val="8B949E"/>
                </a:solidFill>
                <a:latin typeface="Inter"/>
              </a:rPr>
              <a:t>The primitives — interrupt(), Send API, PostgresSaver — now exist to build production agents. 12 months ago this required custom plumbing. Today the framework is stable enough for enterprise. The window to establish an infrastructure standard is open now.</a:t>
            </a:r>
          </a:p>
        </p:txBody>
      </p:sp>
      <p:sp>
        <p:nvSpPr>
          <p:cNvPr id="20" name="Rectangle 19"/>
          <p:cNvSpPr/>
          <p:nvPr/>
        </p:nvSpPr>
        <p:spPr>
          <a:xfrm>
            <a:off x="457200" y="6446520"/>
            <a:ext cx="11274552" cy="274320"/>
          </a:xfrm>
          <a:prstGeom prst="rect">
            <a:avLst/>
          </a:prstGeom>
          <a:solidFill>
            <a:srgbClr val="161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73952"/>
            <a:ext cx="10881360" cy="237744"/>
          </a:xfrm>
          <a:prstGeom prst="rect">
            <a:avLst/>
          </a:prstGeom>
          <a:noFill/>
        </p:spPr>
        <p:txBody>
          <a:bodyPr wrap="square">
            <a:spAutoFit/>
          </a:bodyPr>
          <a:lstStyle/>
          <a:p>
            <a:pPr algn="ctr"/>
            <a:r>
              <a:rPr sz="1050" b="1">
                <a:solidFill>
                  <a:srgbClr val="E6EDF3"/>
                </a:solidFill>
                <a:latin typeface="Inter"/>
              </a:rPr>
              <a:t>The companies that own the agentic infrastructure layer will own the enterprise AI stack. That window is now.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B10"/>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20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731752" y="0"/>
            <a:ext cx="457200" cy="6858000"/>
          </a:xfrm>
          <a:prstGeom prst="rect">
            <a:avLst/>
          </a:prstGeom>
          <a:solidFill>
            <a:srgbClr val="1206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457200"/>
            <a:ext cx="9144000" cy="594360"/>
          </a:xfrm>
          <a:prstGeom prst="rect">
            <a:avLst/>
          </a:prstGeom>
          <a:noFill/>
        </p:spPr>
        <p:txBody>
          <a:bodyPr wrap="square">
            <a:spAutoFit/>
          </a:bodyPr>
          <a:lstStyle/>
          <a:p>
            <a:pPr algn="ctr"/>
            <a:r>
              <a:rPr sz="3000" b="1">
                <a:solidFill>
                  <a:srgbClr val="E6EDF3"/>
                </a:solidFill>
                <a:latin typeface="Inter"/>
              </a:rPr>
              <a:t>Team &amp; Contact</a:t>
            </a:r>
          </a:p>
        </p:txBody>
      </p:sp>
      <p:sp>
        <p:nvSpPr>
          <p:cNvPr id="5" name="TextBox 4"/>
          <p:cNvSpPr txBox="1"/>
          <p:nvPr/>
        </p:nvSpPr>
        <p:spPr>
          <a:xfrm>
            <a:off x="10972800" y="457200"/>
            <a:ext cx="914400" cy="457200"/>
          </a:xfrm>
          <a:prstGeom prst="rect">
            <a:avLst/>
          </a:prstGeom>
          <a:noFill/>
        </p:spPr>
        <p:txBody>
          <a:bodyPr wrap="square">
            <a:spAutoFit/>
          </a:bodyPr>
          <a:lstStyle/>
          <a:p>
            <a:pPr algn="r"/>
            <a:r>
              <a:rPr sz="1100" b="0">
                <a:solidFill>
                  <a:srgbClr val="484F58"/>
                </a:solidFill>
                <a:latin typeface="Inter"/>
              </a:rPr>
              <a:t>14</a:t>
            </a:r>
          </a:p>
        </p:txBody>
      </p:sp>
      <p:sp>
        <p:nvSpPr>
          <p:cNvPr id="6" name="Rectangle 5"/>
          <p:cNvSpPr/>
          <p:nvPr/>
        </p:nvSpPr>
        <p:spPr>
          <a:xfrm>
            <a:off x="731520" y="1280160"/>
            <a:ext cx="10725912" cy="2743200"/>
          </a:xfrm>
          <a:prstGeom prst="rect">
            <a:avLst/>
          </a:prstGeom>
          <a:solidFill>
            <a:srgbClr val="0D1117"/>
          </a:solidFill>
          <a:ln w="9525">
            <a:solidFill>
              <a:srgbClr val="1C2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10058400" cy="411480"/>
          </a:xfrm>
          <a:prstGeom prst="rect">
            <a:avLst/>
          </a:prstGeom>
          <a:noFill/>
        </p:spPr>
        <p:txBody>
          <a:bodyPr wrap="square">
            <a:spAutoFit/>
          </a:bodyPr>
          <a:lstStyle/>
          <a:p>
            <a:pPr algn="l"/>
            <a:r>
              <a:rPr sz="1100" b="1">
                <a:solidFill>
                  <a:srgbClr val="484F58"/>
                </a:solidFill>
                <a:latin typeface="Inter"/>
              </a:rPr>
              <a:t>Founder</a:t>
            </a:r>
          </a:p>
        </p:txBody>
      </p:sp>
      <p:sp>
        <p:nvSpPr>
          <p:cNvPr id="8" name="TextBox 7"/>
          <p:cNvSpPr txBox="1"/>
          <p:nvPr/>
        </p:nvSpPr>
        <p:spPr>
          <a:xfrm>
            <a:off x="914400" y="1874519"/>
            <a:ext cx="10058400" cy="502920"/>
          </a:xfrm>
          <a:prstGeom prst="rect">
            <a:avLst/>
          </a:prstGeom>
          <a:noFill/>
        </p:spPr>
        <p:txBody>
          <a:bodyPr wrap="square">
            <a:spAutoFit/>
          </a:bodyPr>
          <a:lstStyle/>
          <a:p>
            <a:pPr algn="l"/>
            <a:r>
              <a:rPr sz="2000" b="1">
                <a:solidFill>
                  <a:srgbClr val="E6EDF3"/>
                </a:solidFill>
                <a:latin typeface="Inter"/>
              </a:rPr>
              <a:t>Full-stack systems engineer</a:t>
            </a:r>
          </a:p>
        </p:txBody>
      </p:sp>
      <p:sp>
        <p:nvSpPr>
          <p:cNvPr id="9" name="TextBox 8"/>
          <p:cNvSpPr txBox="1"/>
          <p:nvPr/>
        </p:nvSpPr>
        <p:spPr>
          <a:xfrm>
            <a:off x="914400" y="2423160"/>
            <a:ext cx="10332720" cy="1371600"/>
          </a:xfrm>
          <a:prstGeom prst="rect">
            <a:avLst/>
          </a:prstGeom>
          <a:noFill/>
        </p:spPr>
        <p:txBody>
          <a:bodyPr wrap="square">
            <a:spAutoFit/>
          </a:bodyPr>
          <a:lstStyle/>
          <a:p>
            <a:pPr algn="l"/>
            <a:r>
              <a:rPr sz="1200" b="0">
                <a:solidFill>
                  <a:srgbClr val="8B949E"/>
                </a:solidFill>
                <a:latin typeface="Inter"/>
              </a:rPr>
              <a:t>Background in distributed systems, LLM infrastructure, and enterprise SRE tooling.
Built AgenticFrmk end-to-end: AgentCore (121 tests), AgentGateway, AuthService,
RegistryService design, SREDemo React UI, Docker stack, and complete test coverage.
Won previous Agentic Seattle hackathon — HITL + DAG parallel execution.</a:t>
            </a:r>
          </a:p>
        </p:txBody>
      </p:sp>
      <p:cxnSp>
        <p:nvCxnSpPr>
          <p:cNvPr id="10" name="Connector 9"/>
          <p:cNvCxnSpPr/>
          <p:nvPr/>
        </p:nvCxnSpPr>
        <p:spPr>
          <a:xfrm>
            <a:off x="365760" y="4251960"/>
            <a:ext cx="11457432" cy="0"/>
          </a:xfrm>
          <a:prstGeom prst="line">
            <a:avLst/>
          </a:prstGeom>
          <a:ln w="6350">
            <a:solidFill>
              <a:srgbClr val="1C2333"/>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371600" y="4434840"/>
            <a:ext cx="3200400" cy="1280160"/>
          </a:xfrm>
          <a:prstGeom prst="rect">
            <a:avLst/>
          </a:prstGeom>
          <a:solidFill>
            <a:srgbClr val="0D1117"/>
          </a:solidFill>
          <a:ln w="9525">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4526280"/>
            <a:ext cx="2926080" cy="347472"/>
          </a:xfrm>
          <a:prstGeom prst="rect">
            <a:avLst/>
          </a:prstGeom>
          <a:noFill/>
        </p:spPr>
        <p:txBody>
          <a:bodyPr wrap="square">
            <a:spAutoFit/>
          </a:bodyPr>
          <a:lstStyle/>
          <a:p>
            <a:pPr algn="l"/>
            <a:r>
              <a:rPr sz="1000" b="1">
                <a:solidFill>
                  <a:srgbClr val="484F58"/>
                </a:solidFill>
                <a:latin typeface="Inter"/>
              </a:rPr>
              <a:t>Email</a:t>
            </a:r>
          </a:p>
        </p:txBody>
      </p:sp>
      <p:sp>
        <p:nvSpPr>
          <p:cNvPr id="13" name="TextBox 12"/>
          <p:cNvSpPr txBox="1"/>
          <p:nvPr/>
        </p:nvSpPr>
        <p:spPr>
          <a:xfrm>
            <a:off x="1508760" y="4919472"/>
            <a:ext cx="2926080" cy="594360"/>
          </a:xfrm>
          <a:prstGeom prst="rect">
            <a:avLst/>
          </a:prstGeom>
          <a:noFill/>
        </p:spPr>
        <p:txBody>
          <a:bodyPr wrap="square">
            <a:spAutoFit/>
          </a:bodyPr>
          <a:lstStyle/>
          <a:p>
            <a:pPr algn="l"/>
            <a:r>
              <a:rPr sz="1100" b="0">
                <a:solidFill>
                  <a:srgbClr val="A78BFA"/>
                </a:solidFill>
                <a:latin typeface="Inter"/>
              </a:rPr>
              <a:t>mauttaram@gmail.com</a:t>
            </a:r>
          </a:p>
        </p:txBody>
      </p:sp>
      <p:sp>
        <p:nvSpPr>
          <p:cNvPr id="14" name="Rectangle 13"/>
          <p:cNvSpPr/>
          <p:nvPr/>
        </p:nvSpPr>
        <p:spPr>
          <a:xfrm>
            <a:off x="4663440" y="4434840"/>
            <a:ext cx="3200400" cy="1280160"/>
          </a:xfrm>
          <a:prstGeom prst="rect">
            <a:avLst/>
          </a:prstGeom>
          <a:solidFill>
            <a:srgbClr val="0D1117"/>
          </a:solidFill>
          <a:ln w="9525">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0600" y="4526280"/>
            <a:ext cx="2926080" cy="347472"/>
          </a:xfrm>
          <a:prstGeom prst="rect">
            <a:avLst/>
          </a:prstGeom>
          <a:noFill/>
        </p:spPr>
        <p:txBody>
          <a:bodyPr wrap="square">
            <a:spAutoFit/>
          </a:bodyPr>
          <a:lstStyle/>
          <a:p>
            <a:pPr algn="l"/>
            <a:r>
              <a:rPr sz="1000" b="1">
                <a:solidFill>
                  <a:srgbClr val="484F58"/>
                </a:solidFill>
                <a:latin typeface="Inter"/>
              </a:rPr>
              <a:t>GitHub</a:t>
            </a:r>
          </a:p>
        </p:txBody>
      </p:sp>
      <p:sp>
        <p:nvSpPr>
          <p:cNvPr id="16" name="TextBox 15"/>
          <p:cNvSpPr txBox="1"/>
          <p:nvPr/>
        </p:nvSpPr>
        <p:spPr>
          <a:xfrm>
            <a:off x="4800600" y="4919472"/>
            <a:ext cx="2926080" cy="594360"/>
          </a:xfrm>
          <a:prstGeom prst="rect">
            <a:avLst/>
          </a:prstGeom>
          <a:noFill/>
        </p:spPr>
        <p:txBody>
          <a:bodyPr wrap="square">
            <a:spAutoFit/>
          </a:bodyPr>
          <a:lstStyle/>
          <a:p>
            <a:pPr algn="l"/>
            <a:r>
              <a:rPr sz="1100" b="0">
                <a:solidFill>
                  <a:srgbClr val="38BDF8"/>
                </a:solidFill>
                <a:latin typeface="Inter"/>
              </a:rPr>
              <a:t>github.com/AgenticFrmk</a:t>
            </a:r>
          </a:p>
        </p:txBody>
      </p:sp>
      <p:sp>
        <p:nvSpPr>
          <p:cNvPr id="17" name="Rectangle 16"/>
          <p:cNvSpPr/>
          <p:nvPr/>
        </p:nvSpPr>
        <p:spPr>
          <a:xfrm>
            <a:off x="7955279" y="4434840"/>
            <a:ext cx="3200400" cy="1280160"/>
          </a:xfrm>
          <a:prstGeom prst="rect">
            <a:avLst/>
          </a:prstGeom>
          <a:solidFill>
            <a:srgbClr val="0D1117"/>
          </a:solidFill>
          <a:ln w="9525">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4526280"/>
            <a:ext cx="2926080" cy="347472"/>
          </a:xfrm>
          <a:prstGeom prst="rect">
            <a:avLst/>
          </a:prstGeom>
          <a:noFill/>
        </p:spPr>
        <p:txBody>
          <a:bodyPr wrap="square">
            <a:spAutoFit/>
          </a:bodyPr>
          <a:lstStyle/>
          <a:p>
            <a:pPr algn="l"/>
            <a:r>
              <a:rPr sz="1000" b="1">
                <a:solidFill>
                  <a:srgbClr val="484F58"/>
                </a:solidFill>
                <a:latin typeface="Inter"/>
              </a:rPr>
              <a:t>Demo</a:t>
            </a:r>
          </a:p>
        </p:txBody>
      </p:sp>
      <p:sp>
        <p:nvSpPr>
          <p:cNvPr id="19" name="TextBox 18"/>
          <p:cNvSpPr txBox="1"/>
          <p:nvPr/>
        </p:nvSpPr>
        <p:spPr>
          <a:xfrm>
            <a:off x="8092440" y="4919472"/>
            <a:ext cx="2926080" cy="594360"/>
          </a:xfrm>
          <a:prstGeom prst="rect">
            <a:avLst/>
          </a:prstGeom>
          <a:noFill/>
        </p:spPr>
        <p:txBody>
          <a:bodyPr wrap="square">
            <a:spAutoFit/>
          </a:bodyPr>
          <a:lstStyle/>
          <a:p>
            <a:pPr algn="l"/>
            <a:r>
              <a:rPr sz="1100" b="0">
                <a:solidFill>
                  <a:srgbClr val="22C55E"/>
                </a:solidFill>
                <a:latin typeface="Inter"/>
              </a:rPr>
              <a:t>docker compose up → localhost:3000</a:t>
            </a:r>
          </a:p>
        </p:txBody>
      </p:sp>
      <p:sp>
        <p:nvSpPr>
          <p:cNvPr id="20" name="TextBox 19"/>
          <p:cNvSpPr txBox="1"/>
          <p:nvPr/>
        </p:nvSpPr>
        <p:spPr>
          <a:xfrm>
            <a:off x="1371600" y="5897880"/>
            <a:ext cx="9144000" cy="548640"/>
          </a:xfrm>
          <a:prstGeom prst="rect">
            <a:avLst/>
          </a:prstGeom>
          <a:noFill/>
        </p:spPr>
        <p:txBody>
          <a:bodyPr wrap="square">
            <a:spAutoFit/>
          </a:bodyPr>
          <a:lstStyle/>
          <a:p>
            <a:pPr algn="ctr"/>
            <a:r>
              <a:rPr sz="3000" b="1">
                <a:solidFill>
                  <a:srgbClr val="E6EDF3"/>
                </a:solidFill>
                <a:latin typeface="Inter"/>
              </a:rPr>
              <a:t>AgenticFrmk</a:t>
            </a:r>
          </a:p>
        </p:txBody>
      </p:sp>
      <p:sp>
        <p:nvSpPr>
          <p:cNvPr id="21" name="TextBox 20"/>
          <p:cNvSpPr txBox="1"/>
          <p:nvPr/>
        </p:nvSpPr>
        <p:spPr>
          <a:xfrm>
            <a:off x="1371600" y="6446520"/>
            <a:ext cx="9144000" cy="347472"/>
          </a:xfrm>
          <a:prstGeom prst="rect">
            <a:avLst/>
          </a:prstGeom>
          <a:noFill/>
        </p:spPr>
        <p:txBody>
          <a:bodyPr wrap="square">
            <a:spAutoFit/>
          </a:bodyPr>
          <a:lstStyle/>
          <a:p>
            <a:pPr algn="ctr"/>
            <a:r>
              <a:rPr sz="1300" b="0">
                <a:solidFill>
                  <a:srgbClr val="A78BFA"/>
                </a:solidFill>
                <a:latin typeface="Inter"/>
              </a:rPr>
              <a:t>Production-grade agentic infrastructure · Built to deploy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